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built from writeup/tactile-flora-report.md on 2026-10-24.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12B"/>
        </a:solidFill>
        <a:effectLst/>
      </p:bgPr>
    </p:bg>
    <p:spTree>
      <p:nvGrpSpPr>
        <p:cNvPr id="1" name=""/>
        <p:cNvGrpSpPr/>
        <p:nvPr/>
      </p:nvGrpSpPr>
      <p:grpSpPr/>
      <p:sp>
        <p:nvSpPr>
          <p:cNvPr id="2" name="text Tactile FLORA"/>
          <p:cNvSpPr txBox="1"/>
          <p:nvPr/>
        </p:nvSpPr>
        <p:spPr>
          <a:xfrm>
            <a:off x="822960" y="1737360"/>
            <a:ext cx="8503920" cy="1097280"/>
          </a:xfrm>
          <a:prstGeom prst="rect">
            <a:avLst/>
          </a:prstGeom>
          <a:noFill/>
        </p:spPr>
        <p:txBody>
          <a:bodyPr wrap="square" lIns="0" rIns="0" tIns="0" bIns="0" anchor="t">
            <a:spAutoFit/>
          </a:bodyPr>
          <a:lstStyle/>
          <a:p>
            <a:pPr algn="l"/>
            <a:r>
              <a:rPr sz="5400" b="1" i="0">
                <a:solidFill>
                  <a:srgbClr val="FFFFFF"/>
                </a:solidFill>
                <a:latin typeface="Cambria"/>
              </a:rPr>
              <a:t>Tactile FLORA</a:t>
            </a:r>
          </a:p>
        </p:txBody>
      </p:sp>
      <p:sp>
        <p:nvSpPr>
          <p:cNvPr id="3" name="text Fingertip force as t"/>
          <p:cNvSpPr txBox="1"/>
          <p:nvPr/>
        </p:nvSpPr>
        <p:spPr>
          <a:xfrm>
            <a:off x="822960" y="2834640"/>
            <a:ext cx="8503920" cy="731520"/>
          </a:xfrm>
          <a:prstGeom prst="rect">
            <a:avLst/>
          </a:prstGeom>
          <a:noFill/>
        </p:spPr>
        <p:txBody>
          <a:bodyPr wrap="square" lIns="0" rIns="0" tIns="0" bIns="0" anchor="t">
            <a:spAutoFit/>
          </a:bodyPr>
          <a:lstStyle/>
          <a:p>
            <a:pPr algn="l"/>
            <a:r>
              <a:rPr sz="2600" b="0" i="0">
                <a:solidFill>
                  <a:srgbClr val="D6DDE5"/>
                </a:solidFill>
                <a:latin typeface="Calibri"/>
              </a:rPr>
              <a:t>Fingertip force as text for a vision-language reward model</a:t>
            </a:r>
          </a:p>
        </p:txBody>
      </p:sp>
      <p:sp>
        <p:nvSpPr>
          <p:cNvPr id="4" name="text ['Oren Gershony, Aaryan Patel, Kenan Blair and Parth Trivedi  ·  Triton Droids, UC San Diego', '2026-10-24']"/>
          <p:cNvSpPr txBox="1"/>
          <p:nvPr/>
        </p:nvSpPr>
        <p:spPr>
          <a:xfrm>
            <a:off x="822960" y="4937760"/>
            <a:ext cx="10515600" cy="822960"/>
          </a:xfrm>
          <a:prstGeom prst="rect">
            <a:avLst/>
          </a:prstGeom>
          <a:noFill/>
        </p:spPr>
        <p:txBody>
          <a:bodyPr wrap="square" lIns="0" rIns="0" tIns="0" bIns="0" anchor="t">
            <a:spAutoFit/>
          </a:bodyPr>
          <a:lstStyle/>
          <a:p>
            <a:pPr algn="l"/>
            <a:r>
              <a:rPr sz="1600" b="0" i="0">
                <a:solidFill>
                  <a:srgbClr val="D6DDE5"/>
                </a:solidFill>
                <a:latin typeface="Calibri"/>
              </a:rPr>
              <a:t>Oren Gershony, Aaryan Patel, Kenan Blair and Parth Trivedi  ·  Triton Droids, UC San Diego</a:t>
            </a:r>
          </a:p>
          <a:p>
            <a:pPr algn="l"/>
            <a:r>
              <a:rPr sz="1600" b="0" i="0">
                <a:solidFill>
                  <a:srgbClr val="D6DDE5"/>
                </a:solidFill>
                <a:latin typeface="Calibri"/>
              </a:rPr>
              <a:t>2026-10-24</a:t>
            </a:r>
          </a:p>
        </p:txBody>
      </p:sp>
      <p:sp>
        <p:nvSpPr>
          <p:cNvPr id="5" name="motif"/>
          <p:cNvSpPr/>
          <p:nvPr/>
        </p:nvSpPr>
        <p:spPr>
          <a:xfrm>
            <a:off x="9509760" y="1463040"/>
            <a:ext cx="1828800" cy="1828800"/>
          </a:xfrm>
          <a:prstGeom prst="roundRect">
            <a:avLst>
              <a:gd name="adj" fmla="val 8000"/>
            </a:avLst>
          </a:prstGeom>
          <a:solidFill>
            <a:srgbClr val="2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F"/>
          <p:cNvSpPr txBox="1"/>
          <p:nvPr/>
        </p:nvSpPr>
        <p:spPr>
          <a:xfrm>
            <a:off x="9509760" y="1463040"/>
            <a:ext cx="1828800" cy="1828800"/>
          </a:xfrm>
          <a:prstGeom prst="rect">
            <a:avLst/>
          </a:prstGeom>
          <a:noFill/>
        </p:spPr>
        <p:txBody>
          <a:bodyPr wrap="square" lIns="0" rIns="0" tIns="0" bIns="0" anchor="ctr">
            <a:spAutoFit/>
          </a:bodyPr>
          <a:lstStyle/>
          <a:p>
            <a:pPr algn="ctr"/>
            <a:r>
              <a:rPr sz="7200" b="1" i="0">
                <a:solidFill>
                  <a:srgbClr val="FFFFFF"/>
                </a:solidFill>
                <a:latin typeface="Cambria"/>
              </a:rPr>
              <a:t>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2"/>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A vision-only reward model cannot see what the fingers feel</a:t>
            </a:r>
          </a:p>
        </p:txBody>
      </p:sp>
      <p:sp>
        <p:nvSpPr>
          <p:cNvPr id="5" name="text FLORA-Rewarder (NVID"/>
          <p:cNvSpPr txBox="1"/>
          <p:nvPr/>
        </p:nvSpPr>
        <p:spPr>
          <a:xfrm>
            <a:off x="548640" y="1371600"/>
            <a:ext cx="6583680" cy="914400"/>
          </a:xfrm>
          <a:prstGeom prst="rect">
            <a:avLst/>
          </a:prstGeom>
          <a:noFill/>
        </p:spPr>
        <p:txBody>
          <a:bodyPr wrap="square" lIns="0" rIns="0" tIns="0" bIns="0" anchor="t">
            <a:spAutoFit/>
          </a:bodyPr>
          <a:lstStyle/>
          <a:p>
            <a:pPr algn="l"/>
            <a:r>
              <a:rPr sz="1600" b="0" i="0">
                <a:solidFill>
                  <a:srgbClr val="1F2937"/>
                </a:solidFill>
                <a:latin typeface="Calibri"/>
              </a:rPr>
              <a:t>FLORA-Rewarder (NVIDIA, Qwen3.5-27B) watches a video mosaic and scores task success 1 to 5. It has no contact channel.</a:t>
            </a:r>
          </a:p>
        </p:txBody>
      </p:sp>
      <p:sp>
        <p:nvSpPr>
          <p:cNvPr id="6" name="bullets"/>
          <p:cNvSpPr txBox="1"/>
          <p:nvPr/>
        </p:nvSpPr>
        <p:spPr>
          <a:xfrm>
            <a:off x="548640" y="2377440"/>
            <a:ext cx="6583680" cy="3474720"/>
          </a:xfrm>
          <a:prstGeom prst="rect">
            <a:avLst/>
          </a:prstGeom>
          <a:noFill/>
        </p:spPr>
        <p:txBody>
          <a:bodyPr wrap="square" lIns="0" rIns="0" tIns="0" bIns="0">
            <a:spAutoFit/>
          </a:bodyPr>
          <a:lstStyle/>
          <a:p>
            <a:pPr>
              <a:spcAft>
                <a:spcPts val="1200"/>
              </a:spcAft>
            </a:pPr>
            <a:r>
              <a:rPr sz="1600">
                <a:solidFill>
                  <a:srgbClr val="2A6FB0"/>
                </a:solidFill>
                <a:latin typeface="Calibri"/>
              </a:rPr>
              <a:t>•  </a:t>
            </a:r>
            <a:r>
              <a:rPr sz="1600" b="1">
                <a:solidFill>
                  <a:srgbClr val="1F2937"/>
                </a:solidFill>
                <a:latin typeface="Calibri"/>
              </a:rPr>
              <a:t>Grasp or no grasp. </a:t>
            </a:r>
            <a:r>
              <a:rPr sz="1600">
                <a:solidFill>
                  <a:srgbClr val="1F2937"/>
                </a:solidFill>
                <a:latin typeface="Calibri"/>
              </a:rPr>
              <a:t>An empty gripper closes, lifts and moves exactly like a loaded one.</a:t>
            </a:r>
          </a:p>
          <a:p>
            <a:pPr>
              <a:spcAft>
                <a:spcPts val="1200"/>
              </a:spcAft>
            </a:pPr>
            <a:r>
              <a:rPr sz="1600">
                <a:solidFill>
                  <a:srgbClr val="2A6FB0"/>
                </a:solidFill>
                <a:latin typeface="Calibri"/>
              </a:rPr>
              <a:t>•  </a:t>
            </a:r>
            <a:r>
              <a:rPr sz="1600" b="1">
                <a:solidFill>
                  <a:srgbClr val="1F2937"/>
                </a:solidFill>
                <a:latin typeface="Calibri"/>
              </a:rPr>
              <a:t>Hold or touch. </a:t>
            </a:r>
            <a:r>
              <a:rPr sz="1600">
                <a:solidFill>
                  <a:srgbClr val="1F2937"/>
                </a:solidFill>
                <a:latin typeface="Calibri"/>
              </a:rPr>
              <a:t>A brief contact looks like a grasp on camera; the force says it ended early.</a:t>
            </a:r>
          </a:p>
          <a:p>
            <a:pPr>
              <a:spcAft>
                <a:spcPts val="1200"/>
              </a:spcAft>
            </a:pPr>
            <a:r>
              <a:rPr sz="1600">
                <a:solidFill>
                  <a:srgbClr val="2A6FB0"/>
                </a:solidFill>
                <a:latin typeface="Calibri"/>
              </a:rPr>
              <a:t>•  </a:t>
            </a:r>
            <a:r>
              <a:rPr sz="1600" b="1">
                <a:solidFill>
                  <a:srgbClr val="1F2937"/>
                </a:solidFill>
                <a:latin typeface="Calibri"/>
              </a:rPr>
              <a:t>Weak grip, re-grasp, slip. </a:t>
            </a:r>
            <a:r>
              <a:rPr sz="1600">
                <a:solidFill>
                  <a:srgbClr val="1F2937"/>
                </a:solidFill>
                <a:latin typeface="Calibri"/>
              </a:rPr>
              <a:t>Visually unremarkable, obvious in the force trace.</a:t>
            </a:r>
          </a:p>
          <a:p>
            <a:pPr>
              <a:spcAft>
                <a:spcPts val="1200"/>
              </a:spcAft>
            </a:pPr>
            <a:r>
              <a:rPr sz="1600">
                <a:solidFill>
                  <a:srgbClr val="2A6FB0"/>
                </a:solidFill>
                <a:latin typeface="Calibri"/>
              </a:rPr>
              <a:t>•  </a:t>
            </a:r>
            <a:r>
              <a:rPr sz="1600" b="1">
                <a:solidFill>
                  <a:srgbClr val="1F2937"/>
                </a:solidFill>
                <a:latin typeface="Calibri"/>
              </a:rPr>
              <a:t>Small views. </a:t>
            </a:r>
            <a:r>
              <a:rPr sz="1600">
                <a:solidFill>
                  <a:srgbClr val="1F2937"/>
                </a:solidFill>
                <a:latin typeface="Calibri"/>
              </a:rPr>
              <a:t>At 96 px per camera a cube is a few pixels wide; the lift is invisible.</a:t>
            </a:r>
          </a:p>
        </p:txBody>
      </p:sp>
      <p:sp>
        <p:nvSpPr>
          <p:cNvPr id="7" name="card"/>
          <p:cNvSpPr/>
          <p:nvPr/>
        </p:nvSpPr>
        <p:spPr>
          <a:xfrm>
            <a:off x="7589520" y="1371600"/>
            <a:ext cx="4069080" cy="475488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Released FLORA on a "/>
          <p:cNvSpPr txBox="1"/>
          <p:nvPr/>
        </p:nvSpPr>
        <p:spPr>
          <a:xfrm>
            <a:off x="7818120" y="1554480"/>
            <a:ext cx="3657600" cy="365760"/>
          </a:xfrm>
          <a:prstGeom prst="rect">
            <a:avLst/>
          </a:prstGeom>
          <a:noFill/>
        </p:spPr>
        <p:txBody>
          <a:bodyPr wrap="square" lIns="0" rIns="0" tIns="0" bIns="0" anchor="t">
            <a:spAutoFit/>
          </a:bodyPr>
          <a:lstStyle/>
          <a:p>
            <a:pPr algn="l"/>
            <a:r>
              <a:rPr sz="1300" b="1" i="0">
                <a:solidFill>
                  <a:srgbClr val="6B7280"/>
                </a:solidFill>
                <a:latin typeface="Calibri"/>
              </a:rPr>
              <a:t>Released FLORA on a Baxter success</a:t>
            </a:r>
          </a:p>
        </p:txBody>
      </p:sp>
      <p:sp>
        <p:nvSpPr>
          <p:cNvPr id="9" name="text “the cube remained o"/>
          <p:cNvSpPr txBox="1"/>
          <p:nvPr/>
        </p:nvSpPr>
        <p:spPr>
          <a:xfrm>
            <a:off x="7818120" y="2011680"/>
            <a:ext cx="3657600" cy="1188720"/>
          </a:xfrm>
          <a:prstGeom prst="rect">
            <a:avLst/>
          </a:prstGeom>
          <a:noFill/>
        </p:spPr>
        <p:txBody>
          <a:bodyPr wrap="square" lIns="0" rIns="0" tIns="0" bIns="0" anchor="t">
            <a:spAutoFit/>
          </a:bodyPr>
          <a:lstStyle/>
          <a:p>
            <a:pPr algn="l"/>
            <a:r>
              <a:rPr sz="2000" b="0" i="1">
                <a:solidFill>
                  <a:srgbClr val="1F2937"/>
                </a:solidFill>
                <a:latin typeface="Cambria"/>
              </a:rPr>
              <a:t>“the cube remained on the table in the final frames”</a:t>
            </a:r>
          </a:p>
        </p:txBody>
      </p:sp>
      <p:sp>
        <p:nvSpPr>
          <p:cNvPr id="10" name="text The cube was 20 cm i"/>
          <p:cNvSpPr txBox="1"/>
          <p:nvPr/>
        </p:nvSpPr>
        <p:spPr>
          <a:xfrm>
            <a:off x="7818120" y="3383280"/>
            <a:ext cx="3657600" cy="548640"/>
          </a:xfrm>
          <a:prstGeom prst="rect">
            <a:avLst/>
          </a:prstGeom>
          <a:noFill/>
        </p:spPr>
        <p:txBody>
          <a:bodyPr wrap="square" lIns="0" rIns="0" tIns="0" bIns="0" anchor="t">
            <a:spAutoFit/>
          </a:bodyPr>
          <a:lstStyle/>
          <a:p>
            <a:pPr algn="l"/>
            <a:r>
              <a:rPr sz="1400" b="0" i="0">
                <a:solidFill>
                  <a:srgbClr val="6B7280"/>
                </a:solidFill>
                <a:latin typeface="Calibri"/>
              </a:rPr>
              <a:t>The cube was 20 cm in the air, held for 2.9 s.</a:t>
            </a:r>
          </a:p>
        </p:txBody>
      </p:sp>
      <p:sp>
        <p:nvSpPr>
          <p:cNvPr id="11" name="text Rationale from the r"/>
          <p:cNvSpPr txBox="1"/>
          <p:nvPr/>
        </p:nvSpPr>
        <p:spPr>
          <a:xfrm>
            <a:off x="7818120" y="5394960"/>
            <a:ext cx="3657600" cy="548640"/>
          </a:xfrm>
          <a:prstGeom prst="rect">
            <a:avLst/>
          </a:prstGeom>
          <a:noFill/>
        </p:spPr>
        <p:txBody>
          <a:bodyPr wrap="square" lIns="0" rIns="0" tIns="0" bIns="0" anchor="t">
            <a:spAutoFit/>
          </a:bodyPr>
          <a:lstStyle/>
          <a:p>
            <a:pPr algn="l"/>
            <a:r>
              <a:rPr sz="1100" b="0" i="0">
                <a:solidFill>
                  <a:srgbClr val="6B7280"/>
                </a:solidFill>
                <a:latin typeface="Calibri"/>
              </a:rPr>
              <a:t>Rationale from the released model on rollout ep0000 (writeup/baxter-rollouts/README.md).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3"/>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The idea: render force as text, put it in the prompt, fine-tune with LoRA</a:t>
            </a:r>
          </a:p>
        </p:txBody>
      </p:sp>
      <p:sp>
        <p:nvSpPr>
          <p:cNvPr id="5" name="cams"/>
          <p:cNvSpPr/>
          <p:nvPr/>
        </p:nvSpPr>
        <p:spPr>
          <a:xfrm>
            <a:off x="548640" y="1828800"/>
            <a:ext cx="2011680" cy="9144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Cameras</a:t>
            </a:r>
          </a:p>
          <a:p>
            <a:pPr algn="ctr"/>
            <a:r>
              <a:rPr sz="1400" b="0">
                <a:solidFill>
                  <a:srgbClr val="1F2937"/>
                </a:solidFill>
                <a:latin typeface="Calibri"/>
              </a:rPr>
              <a:t>scene video</a:t>
            </a:r>
          </a:p>
        </p:txBody>
      </p:sp>
      <p:sp>
        <p:nvSpPr>
          <p:cNvPr id="6" name="mosaic"/>
          <p:cNvSpPr/>
          <p:nvPr/>
        </p:nvSpPr>
        <p:spPr>
          <a:xfrm>
            <a:off x="3200400" y="1828800"/>
            <a:ext cx="2651760" cy="9144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64-frame mosaic</a:t>
            </a:r>
          </a:p>
          <a:p>
            <a:pPr algn="ctr"/>
            <a:r>
              <a:rPr sz="1400" b="0">
                <a:solidFill>
                  <a:srgbClr val="1F2937"/>
                </a:solidFill>
                <a:latin typeface="Calibri"/>
              </a:rPr>
              <a:t>released FLORA sampling, 96 px cells</a:t>
            </a:r>
          </a:p>
        </p:txBody>
      </p:sp>
      <p:cxnSp>
        <p:nvCxnSpPr>
          <p:cNvPr id="7" name="Connector 6"/>
          <p:cNvCxnSpPr/>
          <p:nvPr/>
        </p:nvCxnSpPr>
        <p:spPr>
          <a:xfrm>
            <a:off x="2560320" y="2286000"/>
            <a:ext cx="64008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ensor"/>
          <p:cNvSpPr/>
          <p:nvPr/>
        </p:nvSpPr>
        <p:spPr>
          <a:xfrm>
            <a:off x="548640" y="3749039"/>
            <a:ext cx="2011680" cy="914400"/>
          </a:xfrm>
          <a:prstGeom prst="roundRect">
            <a:avLst>
              <a:gd name="adj" fmla="val 8000"/>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Fingertip force</a:t>
            </a:r>
          </a:p>
          <a:p>
            <a:pPr algn="ctr"/>
            <a:r>
              <a:rPr sz="1400" b="0">
                <a:solidFill>
                  <a:srgbClr val="1F2937"/>
                </a:solidFill>
                <a:latin typeface="Calibri"/>
              </a:rPr>
              <a:t>FSR pads / Inspire hand, 50 to 200 Hz</a:t>
            </a:r>
          </a:p>
        </p:txBody>
      </p:sp>
      <p:sp>
        <p:nvSpPr>
          <p:cNvPr id="9" name="resample"/>
          <p:cNvSpPr/>
          <p:nvPr/>
        </p:nvSpPr>
        <p:spPr>
          <a:xfrm>
            <a:off x="3200400" y="3749039"/>
            <a:ext cx="1600200" cy="914400"/>
          </a:xfrm>
          <a:prstGeom prst="roundRect">
            <a:avLst>
              <a:gd name="adj" fmla="val 8000"/>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Resample</a:t>
            </a:r>
          </a:p>
          <a:p>
            <a:pPr algn="ctr"/>
            <a:r>
              <a:rPr sz="1400" b="0">
                <a:solidFill>
                  <a:srgbClr val="1F2937"/>
                </a:solidFill>
                <a:latin typeface="Calibri"/>
              </a:rPr>
              <a:t>to the 64 frame times</a:t>
            </a:r>
          </a:p>
        </p:txBody>
      </p:sp>
      <p:sp>
        <p:nvSpPr>
          <p:cNvPr id="10" name="normalize"/>
          <p:cNvSpPr/>
          <p:nvPr/>
        </p:nvSpPr>
        <p:spPr>
          <a:xfrm>
            <a:off x="4983480" y="3749039"/>
            <a:ext cx="1600200" cy="914400"/>
          </a:xfrm>
          <a:prstGeom prst="roundRect">
            <a:avLst>
              <a:gd name="adj" fmla="val 8000"/>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Normalize</a:t>
            </a:r>
          </a:p>
          <a:p>
            <a:pPr algn="ctr"/>
            <a:r>
              <a:rPr sz="1400" b="0">
                <a:solidFill>
                  <a:srgbClr val="1F2937"/>
                </a:solidFill>
                <a:latin typeface="Calibri"/>
              </a:rPr>
              <a:t>0 free space, 1 median grasp</a:t>
            </a:r>
          </a:p>
        </p:txBody>
      </p:sp>
      <p:sp>
        <p:nvSpPr>
          <p:cNvPr id="11" name="block"/>
          <p:cNvSpPr/>
          <p:nvPr/>
        </p:nvSpPr>
        <p:spPr>
          <a:xfrm>
            <a:off x="6766560" y="3749039"/>
            <a:ext cx="2103120" cy="914400"/>
          </a:xfrm>
          <a:prstGeom prst="roundRect">
            <a:avLst>
              <a:gd name="adj" fmla="val 8000"/>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Text block</a:t>
            </a:r>
          </a:p>
          <a:p>
            <a:pPr algn="ctr"/>
            <a:r>
              <a:rPr sz="1400" b="0">
                <a:solidFill>
                  <a:srgbClr val="1F2937"/>
                </a:solidFill>
                <a:latin typeface="Calibri"/>
              </a:rPr>
              <a:t>per-frame lines + summary + classifier P</a:t>
            </a:r>
          </a:p>
        </p:txBody>
      </p:sp>
      <p:cxnSp>
        <p:nvCxnSpPr>
          <p:cNvPr id="12" name="Connector 11"/>
          <p:cNvCxnSpPr/>
          <p:nvPr/>
        </p:nvCxnSpPr>
        <p:spPr>
          <a:xfrm>
            <a:off x="2560320" y="4206240"/>
            <a:ext cx="64008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800600" y="4206240"/>
            <a:ext cx="18288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3680" y="4206240"/>
            <a:ext cx="18288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lora"/>
          <p:cNvSpPr/>
          <p:nvPr/>
        </p:nvSpPr>
        <p:spPr>
          <a:xfrm>
            <a:off x="9418320" y="2651760"/>
            <a:ext cx="2240280" cy="1280160"/>
          </a:xfrm>
          <a:prstGeom prst="roundRect">
            <a:avLst>
              <a:gd name="adj" fmla="val 8000"/>
            </a:avLst>
          </a:prstGeom>
          <a:solidFill>
            <a:srgbClr val="2A6F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FLORA-Rewarder</a:t>
            </a:r>
          </a:p>
          <a:p>
            <a:pPr algn="ctr"/>
            <a:r>
              <a:rPr sz="1400" b="0">
                <a:solidFill>
                  <a:srgbClr val="FFFFFF"/>
                </a:solidFill>
                <a:latin typeface="Calibri"/>
              </a:rPr>
              <a:t>Qwen3.5-27B + LoRA r32</a:t>
            </a:r>
          </a:p>
          <a:p>
            <a:pPr algn="ctr"/>
            <a:r>
              <a:rPr sz="1400" b="0">
                <a:solidFill>
                  <a:srgbClr val="FFFFFF"/>
                </a:solidFill>
                <a:latin typeface="Calibri"/>
              </a:rPr>
              <a:t>vision encoder frozen</a:t>
            </a:r>
          </a:p>
        </p:txBody>
      </p:sp>
      <p:cxnSp>
        <p:nvCxnSpPr>
          <p:cNvPr id="16" name="Connector 15"/>
          <p:cNvCxnSpPr/>
          <p:nvPr/>
        </p:nvCxnSpPr>
        <p:spPr>
          <a:xfrm>
            <a:off x="5852160" y="2286000"/>
            <a:ext cx="3566160" cy="77724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869680" y="3520440"/>
            <a:ext cx="548640" cy="68580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core"/>
          <p:cNvSpPr/>
          <p:nvPr/>
        </p:nvSpPr>
        <p:spPr>
          <a:xfrm>
            <a:off x="9418320" y="4572000"/>
            <a:ext cx="2240280" cy="8229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2937"/>
                </a:solidFill>
                <a:latin typeface="Calibri"/>
              </a:rPr>
              <a:t>Score 1 to 5</a:t>
            </a:r>
          </a:p>
          <a:p>
            <a:pPr algn="ctr"/>
            <a:r>
              <a:rPr sz="1400" b="0">
                <a:solidFill>
                  <a:srgbClr val="1F2937"/>
                </a:solidFill>
                <a:latin typeface="Calibri"/>
              </a:rPr>
              <a:t>E[s], success at 4.0</a:t>
            </a:r>
          </a:p>
        </p:txBody>
      </p:sp>
      <p:cxnSp>
        <p:nvCxnSpPr>
          <p:cNvPr id="19" name="Connector 18"/>
          <p:cNvCxnSpPr/>
          <p:nvPr/>
        </p:nvCxnSpPr>
        <p:spPr>
          <a:xfrm>
            <a:off x="10533888" y="3931920"/>
            <a:ext cx="0" cy="64008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 Everything released "/>
          <p:cNvSpPr txBox="1"/>
          <p:nvPr/>
        </p:nvSpPr>
        <p:spPr>
          <a:xfrm>
            <a:off x="548640" y="5212080"/>
            <a:ext cx="8412480" cy="1005840"/>
          </a:xfrm>
          <a:prstGeom prst="rect">
            <a:avLst/>
          </a:prstGeom>
          <a:noFill/>
        </p:spPr>
        <p:txBody>
          <a:bodyPr wrap="square" lIns="0" rIns="0" tIns="0" bIns="0" anchor="t">
            <a:spAutoFit/>
          </a:bodyPr>
          <a:lstStyle/>
          <a:p>
            <a:pPr algn="l"/>
            <a:r>
              <a:rPr sz="1400" b="0" i="0">
                <a:solidFill>
                  <a:srgbClr val="6B7280"/>
                </a:solidFill>
                <a:latin typeface="Calibri"/>
              </a:rPr>
              <a:t>Everything released stays: weights, prompts, frame sampling. One addition: a force block after the video, introduced by one sentence that names its columns. Matched control: same training with the block omitted.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4"/>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The force block the model reads</a:t>
            </a:r>
          </a:p>
        </p:txBody>
      </p:sp>
      <p:sp>
        <p:nvSpPr>
          <p:cNvPr id="5" name="card"/>
          <p:cNvSpPr/>
          <p:nvPr/>
        </p:nvSpPr>
        <p:spPr>
          <a:xfrm>
            <a:off x="548640" y="1371600"/>
            <a:ext cx="6949440" cy="2834640"/>
          </a:xfrm>
          <a:prstGeom prst="roundRect">
            <a:avLst>
              <a:gd name="adj" fmla="val 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Force (normalized: 0 free space, 1 median grasp, max 3):', 'summary R: contacts=1 longest=6.00s total=6.00s peak=1.83 hold=5.67s', '   holdF=1.55 late/early=0.70 low=0% force-only classifier P(success)=0.76', 't=0.00 L none | pad R F=0.00 D=0.00 dF=0.00 g=0.00 c=0', 't=0.25 L none | pad R F=0.00 D=0.00 dF=0.00 g=0.00 c=0', '...', 't=12.50 L none | pad R F=1.62 D=0.21 dF=0.03 g=0.71 c=1']"/>
          <p:cNvSpPr txBox="1"/>
          <p:nvPr/>
        </p:nvSpPr>
        <p:spPr>
          <a:xfrm>
            <a:off x="777240" y="1554480"/>
            <a:ext cx="6583680" cy="2560320"/>
          </a:xfrm>
          <a:prstGeom prst="rect">
            <a:avLst/>
          </a:prstGeom>
          <a:noFill/>
        </p:spPr>
        <p:txBody>
          <a:bodyPr wrap="square" lIns="0" rIns="0" tIns="0" bIns="0" anchor="t">
            <a:spAutoFit/>
          </a:bodyPr>
          <a:lstStyle/>
          <a:p>
            <a:pPr algn="l"/>
            <a:r>
              <a:rPr sz="1200" b="0" i="0">
                <a:solidFill>
                  <a:srgbClr val="1F2937"/>
                </a:solidFill>
                <a:latin typeface="Courier New"/>
              </a:rPr>
              <a:t>Force (normalized: 0 free space, 1 median grasp, max 3):</a:t>
            </a:r>
          </a:p>
          <a:p>
            <a:pPr algn="l"/>
            <a:r>
              <a:rPr sz="1200" b="0" i="0">
                <a:solidFill>
                  <a:srgbClr val="1F2937"/>
                </a:solidFill>
                <a:latin typeface="Courier New"/>
              </a:rPr>
              <a:t>summary R: contacts=1 longest=6.00s total=6.00s peak=1.83 hold=5.67s</a:t>
            </a:r>
          </a:p>
          <a:p>
            <a:pPr algn="l"/>
            <a:r>
              <a:rPr sz="1200" b="0" i="0">
                <a:solidFill>
                  <a:srgbClr val="1F2937"/>
                </a:solidFill>
                <a:latin typeface="Courier New"/>
              </a:rPr>
              <a:t>   holdF=1.55 late/early=0.70 low=0% force-only classifier P(success)=0.76</a:t>
            </a:r>
          </a:p>
          <a:p>
            <a:pPr algn="l"/>
            <a:r>
              <a:rPr sz="1200" b="0" i="0">
                <a:solidFill>
                  <a:srgbClr val="1F2937"/>
                </a:solidFill>
                <a:latin typeface="Courier New"/>
              </a:rPr>
              <a:t>t=0.00 L none | pad R F=0.00 D=0.00 dF=0.00 g=0.00 c=0</a:t>
            </a:r>
          </a:p>
          <a:p>
            <a:pPr algn="l"/>
            <a:r>
              <a:rPr sz="1200" b="0" i="0">
                <a:solidFill>
                  <a:srgbClr val="1F2937"/>
                </a:solidFill>
                <a:latin typeface="Courier New"/>
              </a:rPr>
              <a:t>t=0.25 L none | pad R F=0.00 D=0.00 dF=0.00 g=0.00 c=0</a:t>
            </a:r>
          </a:p>
          <a:p>
            <a:pPr algn="l"/>
            <a:r>
              <a:rPr sz="1200" b="0" i="0">
                <a:solidFill>
                  <a:srgbClr val="1F2937"/>
                </a:solidFill>
                <a:latin typeface="Courier New"/>
              </a:rPr>
              <a:t>...</a:t>
            </a:r>
          </a:p>
          <a:p>
            <a:pPr algn="l"/>
            <a:r>
              <a:rPr sz="1200" b="0" i="0">
                <a:solidFill>
                  <a:srgbClr val="1F2937"/>
                </a:solidFill>
                <a:latin typeface="Courier New"/>
              </a:rPr>
              <a:t>t=12.50 L none | pad R F=1.62 D=0.21 dF=0.03 g=0.71 c=1</a:t>
            </a:r>
          </a:p>
        </p:txBody>
      </p:sp>
      <p:sp>
        <p:nvSpPr>
          <p:cNvPr id="7" name="bullets"/>
          <p:cNvSpPr txBox="1"/>
          <p:nvPr/>
        </p:nvSpPr>
        <p:spPr>
          <a:xfrm>
            <a:off x="7772400" y="1371600"/>
            <a:ext cx="3931920" cy="4572000"/>
          </a:xfrm>
          <a:prstGeom prst="rect">
            <a:avLst/>
          </a:prstGeom>
          <a:noFill/>
        </p:spPr>
        <p:txBody>
          <a:bodyPr wrap="square" lIns="0" rIns="0" tIns="0" bIns="0">
            <a:spAutoFit/>
          </a:bodyPr>
          <a:lstStyle/>
          <a:p>
            <a:pPr>
              <a:spcAft>
                <a:spcPts val="800"/>
              </a:spcAft>
            </a:pPr>
            <a:r>
              <a:rPr sz="1300">
                <a:solidFill>
                  <a:srgbClr val="2A6FB0"/>
                </a:solidFill>
                <a:latin typeface="Calibri"/>
              </a:rPr>
              <a:t>•  </a:t>
            </a:r>
            <a:r>
              <a:rPr sz="1300" b="1">
                <a:solidFill>
                  <a:srgbClr val="1F2937"/>
                </a:solidFill>
                <a:latin typeface="Calibri"/>
              </a:rPr>
              <a:t>F </a:t>
            </a:r>
            <a:r>
              <a:rPr sz="1300">
                <a:solidFill>
                  <a:srgbClr val="1F2937"/>
                </a:solidFill>
                <a:latin typeface="Calibri"/>
              </a:rPr>
              <a:t>total grip force; D pad asymmetry; dF its rate</a:t>
            </a:r>
          </a:p>
          <a:p>
            <a:pPr>
              <a:spcAft>
                <a:spcPts val="800"/>
              </a:spcAft>
            </a:pPr>
            <a:r>
              <a:rPr sz="1300">
                <a:solidFill>
                  <a:srgbClr val="2A6FB0"/>
                </a:solidFill>
                <a:latin typeface="Calibri"/>
              </a:rPr>
              <a:t>•  </a:t>
            </a:r>
            <a:r>
              <a:rPr sz="1300" b="1">
                <a:solidFill>
                  <a:srgbClr val="1F2937"/>
                </a:solidFill>
                <a:latin typeface="Calibri"/>
              </a:rPr>
              <a:t>g </a:t>
            </a:r>
            <a:r>
              <a:rPr sz="1300">
                <a:solidFill>
                  <a:srgbClr val="1F2937"/>
                </a:solidFill>
                <a:latin typeface="Calibri"/>
              </a:rPr>
              <a:t>hand closure, 0 open to 1 closed; c contact flag (F above 5% of grasp)</a:t>
            </a:r>
          </a:p>
          <a:p>
            <a:pPr>
              <a:spcAft>
                <a:spcPts val="800"/>
              </a:spcAft>
            </a:pPr>
            <a:r>
              <a:rPr sz="1300">
                <a:solidFill>
                  <a:srgbClr val="2A6FB0"/>
                </a:solidFill>
                <a:latin typeface="Calibri"/>
              </a:rPr>
              <a:t>•  </a:t>
            </a:r>
            <a:r>
              <a:rPr sz="1300" b="1">
                <a:solidFill>
                  <a:srgbClr val="1F2937"/>
                </a:solidFill>
                <a:latin typeface="Calibri"/>
              </a:rPr>
              <a:t>summary </a:t>
            </a:r>
            <a:r>
              <a:rPr sz="1300">
                <a:solidFill>
                  <a:srgbClr val="1F2937"/>
                </a:solidFill>
                <a:latin typeface="Calibri"/>
              </a:rPr>
              <a:t>label-free: contact segments, longest and total contact, peak, hold time and force, late/early hold ratio, low-force fraction</a:t>
            </a:r>
          </a:p>
          <a:p>
            <a:pPr>
              <a:spcAft>
                <a:spcPts val="800"/>
              </a:spcAft>
            </a:pPr>
            <a:r>
              <a:rPr sz="1300">
                <a:solidFill>
                  <a:srgbClr val="2A6FB0"/>
                </a:solidFill>
                <a:latin typeface="Calibri"/>
              </a:rPr>
              <a:t>•  </a:t>
            </a:r>
            <a:r>
              <a:rPr sz="1300" b="1">
                <a:solidFill>
                  <a:srgbClr val="1F2937"/>
                </a:solidFill>
                <a:latin typeface="Calibri"/>
              </a:rPr>
              <a:t>P(success) </a:t>
            </a:r>
            <a:r>
              <a:rPr sz="1300">
                <a:solidFill>
                  <a:srgbClr val="1F2937"/>
                </a:solidFill>
                <a:latin typeface="Calibri"/>
              </a:rPr>
              <a:t>a 120-tree, depth-2 gradient-boosted classifier over 31 force statistics, fitted on the 350 training clips; training clips see out-of-fold values</a:t>
            </a:r>
          </a:p>
          <a:p>
            <a:pPr>
              <a:spcAft>
                <a:spcPts val="800"/>
              </a:spcAft>
            </a:pPr>
            <a:r>
              <a:rPr sz="1300">
                <a:solidFill>
                  <a:srgbClr val="2A6FB0"/>
                </a:solidFill>
                <a:latin typeface="Calibri"/>
              </a:rPr>
              <a:t>•  </a:t>
            </a:r>
            <a:r>
              <a:rPr sz="1300" b="1">
                <a:solidFill>
                  <a:srgbClr val="1F2937"/>
                </a:solidFill>
                <a:latin typeface="Calibri"/>
              </a:rPr>
              <a:t>budget </a:t>
            </a:r>
            <a:r>
              <a:rPr sz="1300">
                <a:solidFill>
                  <a:srgbClr val="1F2937"/>
                </a:solidFill>
                <a:latin typeface="Calibri"/>
              </a:rPr>
              <a:t>at most 3,000 tokens per clip (largest seen: 2,700)</a:t>
            </a:r>
          </a:p>
        </p:txBody>
      </p:sp>
      <p:sp>
        <p:nvSpPr>
          <p:cNvPr id="8" name="text HRDexDB training cli"/>
          <p:cNvSpPr txBox="1"/>
          <p:nvPr/>
        </p:nvSpPr>
        <p:spPr>
          <a:xfrm>
            <a:off x="548640" y="4389120"/>
            <a:ext cx="6949440" cy="548640"/>
          </a:xfrm>
          <a:prstGeom prst="rect">
            <a:avLst/>
          </a:prstGeom>
          <a:noFill/>
        </p:spPr>
        <p:txBody>
          <a:bodyPr wrap="square" lIns="0" rIns="0" tIns="0" bIns="0" anchor="t">
            <a:spAutoFit/>
          </a:bodyPr>
          <a:lstStyle/>
          <a:p>
            <a:pPr algn="l"/>
            <a:r>
              <a:rPr sz="1200" b="0" i="0">
                <a:solidFill>
                  <a:srgbClr val="6B7280"/>
                </a:solidFill>
                <a:latin typeface="Calibri"/>
              </a:rPr>
              <a:t>HRDexDB training clip inspire_dftp/cactus2/0, abbreviated. Per-trial tare, two most loaded pads, sign-corrected closure.</a:t>
            </a:r>
          </a:p>
        </p:txBody>
      </p:sp>
      <p:sp>
        <p:nvSpPr>
          <p:cNvPr id="9" name="card"/>
          <p:cNvSpPr/>
          <p:nvPr/>
        </p:nvSpPr>
        <p:spPr>
          <a:xfrm>
            <a:off x="548640" y="5120640"/>
            <a:ext cx="6949440" cy="10058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Why text: no new enc"/>
          <p:cNvSpPr txBox="1"/>
          <p:nvPr/>
        </p:nvSpPr>
        <p:spPr>
          <a:xfrm>
            <a:off x="777240" y="5257800"/>
            <a:ext cx="6492240" cy="777240"/>
          </a:xfrm>
          <a:prstGeom prst="rect">
            <a:avLst/>
          </a:prstGeom>
          <a:noFill/>
        </p:spPr>
        <p:txBody>
          <a:bodyPr wrap="square" lIns="0" rIns="0" tIns="0" bIns="0" anchor="ctr">
            <a:spAutoFit/>
          </a:bodyPr>
          <a:lstStyle/>
          <a:p>
            <a:pPr algn="l"/>
            <a:r>
              <a:rPr sz="1400" b="0" i="0">
                <a:solidFill>
                  <a:srgbClr val="1F2937"/>
                </a:solidFill>
                <a:latin typeface="Calibri"/>
              </a:rPr>
              <a:t>Why text: no new encoder, no change to the released model; the resampler keeps the raw slice so an encoder can be added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5"/>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Every claim is checked against two controls and two diagnostics</a:t>
            </a:r>
          </a:p>
        </p:txBody>
      </p:sp>
      <p:sp>
        <p:nvSpPr>
          <p:cNvPr id="5" name="card"/>
          <p:cNvSpPr/>
          <p:nvPr/>
        </p:nvSpPr>
        <p:spPr>
          <a:xfrm>
            <a:off x="548640" y="1463040"/>
            <a:ext cx="2651760" cy="40233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0"/>
          <p:cNvSpPr/>
          <p:nvPr/>
        </p:nvSpPr>
        <p:spPr>
          <a:xfrm>
            <a:off x="777240" y="1691640"/>
            <a:ext cx="457200" cy="457200"/>
          </a:xfrm>
          <a:prstGeom prst="roundRect">
            <a:avLst>
              <a:gd name="adj" fmla="val 8000"/>
            </a:avLst>
          </a:prstGeom>
          <a:solidFill>
            <a:srgbClr val="2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1"/>
          <p:cNvSpPr txBox="1"/>
          <p:nvPr/>
        </p:nvSpPr>
        <p:spPr>
          <a:xfrm>
            <a:off x="777240" y="169164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sp>
        <p:nvSpPr>
          <p:cNvPr id="8" name="text Matched no-force fin"/>
          <p:cNvSpPr txBox="1"/>
          <p:nvPr/>
        </p:nvSpPr>
        <p:spPr>
          <a:xfrm>
            <a:off x="777240" y="2286000"/>
            <a:ext cx="2240280" cy="822960"/>
          </a:xfrm>
          <a:prstGeom prst="rect">
            <a:avLst/>
          </a:prstGeom>
          <a:noFill/>
        </p:spPr>
        <p:txBody>
          <a:bodyPr wrap="square" lIns="0" rIns="0" tIns="0" bIns="0" anchor="t">
            <a:spAutoFit/>
          </a:bodyPr>
          <a:lstStyle/>
          <a:p>
            <a:pPr algn="l"/>
            <a:r>
              <a:rPr sz="1800" b="1" i="0">
                <a:solidFill>
                  <a:srgbClr val="1F2937"/>
                </a:solidFill>
                <a:latin typeface="Cambria"/>
              </a:rPr>
              <a:t>Matched no-force fine-tune</a:t>
            </a:r>
          </a:p>
        </p:txBody>
      </p:sp>
      <p:sp>
        <p:nvSpPr>
          <p:cNvPr id="9" name="text Same base, same 350 "/>
          <p:cNvSpPr txBox="1"/>
          <p:nvPr/>
        </p:nvSpPr>
        <p:spPr>
          <a:xfrm>
            <a:off x="777240" y="3154680"/>
            <a:ext cx="2240280" cy="2194560"/>
          </a:xfrm>
          <a:prstGeom prst="rect">
            <a:avLst/>
          </a:prstGeom>
          <a:noFill/>
        </p:spPr>
        <p:txBody>
          <a:bodyPr wrap="square" lIns="0" rIns="0" tIns="0" bIns="0" anchor="t">
            <a:spAutoFit/>
          </a:bodyPr>
          <a:lstStyle/>
          <a:p>
            <a:pPr algn="l"/>
            <a:r>
              <a:rPr sz="1400" b="0" i="0">
                <a:solidFill>
                  <a:srgbClr val="1F2937"/>
                </a:solidFill>
                <a:latin typeface="Calibri"/>
              </a:rPr>
              <a:t>Same base, same 350 clips, same seed, epochs, learning rate, batch and LoRA; block omitted. A gain over it is a force gain, not a fine-tuning gain.</a:t>
            </a:r>
          </a:p>
        </p:txBody>
      </p:sp>
      <p:sp>
        <p:nvSpPr>
          <p:cNvPr id="10" name="card"/>
          <p:cNvSpPr/>
          <p:nvPr/>
        </p:nvSpPr>
        <p:spPr>
          <a:xfrm>
            <a:off x="3383280" y="1463040"/>
            <a:ext cx="2651760" cy="40233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1"/>
          <p:cNvSpPr/>
          <p:nvPr/>
        </p:nvSpPr>
        <p:spPr>
          <a:xfrm>
            <a:off x="3611880" y="1691640"/>
            <a:ext cx="457200" cy="457200"/>
          </a:xfrm>
          <a:prstGeom prst="roundRect">
            <a:avLst>
              <a:gd name="adj" fmla="val 8000"/>
            </a:avLst>
          </a:prstGeom>
          <a:solidFill>
            <a:srgbClr val="2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2"/>
          <p:cNvSpPr txBox="1"/>
          <p:nvPr/>
        </p:nvSpPr>
        <p:spPr>
          <a:xfrm>
            <a:off x="3611880" y="169164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sp>
        <p:nvSpPr>
          <p:cNvPr id="13" name="text Shuffled force"/>
          <p:cNvSpPr txBox="1"/>
          <p:nvPr/>
        </p:nvSpPr>
        <p:spPr>
          <a:xfrm>
            <a:off x="3611880" y="2286000"/>
            <a:ext cx="2240280" cy="822960"/>
          </a:xfrm>
          <a:prstGeom prst="rect">
            <a:avLst/>
          </a:prstGeom>
          <a:noFill/>
        </p:spPr>
        <p:txBody>
          <a:bodyPr wrap="square" lIns="0" rIns="0" tIns="0" bIns="0" anchor="t">
            <a:spAutoFit/>
          </a:bodyPr>
          <a:lstStyle/>
          <a:p>
            <a:pPr algn="l"/>
            <a:r>
              <a:rPr sz="1800" b="1" i="0">
                <a:solidFill>
                  <a:srgbClr val="1F2937"/>
                </a:solidFill>
                <a:latin typeface="Cambria"/>
              </a:rPr>
              <a:t>Shuffled force</a:t>
            </a:r>
          </a:p>
        </p:txBody>
      </p:sp>
      <p:sp>
        <p:nvSpPr>
          <p:cNvPr id="14" name="text The tactile model wi"/>
          <p:cNvSpPr txBox="1"/>
          <p:nvPr/>
        </p:nvSpPr>
        <p:spPr>
          <a:xfrm>
            <a:off x="3611880" y="3154680"/>
            <a:ext cx="2240280" cy="2194560"/>
          </a:xfrm>
          <a:prstGeom prst="rect">
            <a:avLst/>
          </a:prstGeom>
          <a:noFill/>
        </p:spPr>
        <p:txBody>
          <a:bodyPr wrap="square" lIns="0" rIns="0" tIns="0" bIns="0" anchor="t">
            <a:spAutoFit/>
          </a:bodyPr>
          <a:lstStyle/>
          <a:p>
            <a:pPr algn="l"/>
            <a:r>
              <a:rPr sz="1400" b="0" i="0">
                <a:solidFill>
                  <a:srgbClr val="1F2937"/>
                </a:solidFill>
                <a:latin typeface="Calibri"/>
              </a:rPr>
              <a:t>The tactile model with each clip's block replaced by another clip's. A gain that survives shuffling is not a force gain.</a:t>
            </a:r>
          </a:p>
        </p:txBody>
      </p:sp>
      <p:sp>
        <p:nvSpPr>
          <p:cNvPr id="15" name="card"/>
          <p:cNvSpPr/>
          <p:nvPr/>
        </p:nvSpPr>
        <p:spPr>
          <a:xfrm>
            <a:off x="6217920" y="1463040"/>
            <a:ext cx="2651760" cy="40233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2"/>
          <p:cNvSpPr/>
          <p:nvPr/>
        </p:nvSpPr>
        <p:spPr>
          <a:xfrm>
            <a:off x="6446520" y="1691640"/>
            <a:ext cx="457200" cy="457200"/>
          </a:xfrm>
          <a:prstGeom prst="roundRect">
            <a:avLst>
              <a:gd name="adj" fmla="val 8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3"/>
          <p:cNvSpPr txBox="1"/>
          <p:nvPr/>
        </p:nvSpPr>
        <p:spPr>
          <a:xfrm>
            <a:off x="6446520" y="169164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sp>
        <p:nvSpPr>
          <p:cNvPr id="18" name="text Force removed"/>
          <p:cNvSpPr txBox="1"/>
          <p:nvPr/>
        </p:nvSpPr>
        <p:spPr>
          <a:xfrm>
            <a:off x="6446520" y="2286000"/>
            <a:ext cx="2240280" cy="822960"/>
          </a:xfrm>
          <a:prstGeom prst="rect">
            <a:avLst/>
          </a:prstGeom>
          <a:noFill/>
        </p:spPr>
        <p:txBody>
          <a:bodyPr wrap="square" lIns="0" rIns="0" tIns="0" bIns="0" anchor="t">
            <a:spAutoFit/>
          </a:bodyPr>
          <a:lstStyle/>
          <a:p>
            <a:pPr algn="l"/>
            <a:r>
              <a:rPr sz="1800" b="1" i="0">
                <a:solidFill>
                  <a:srgbClr val="1F2937"/>
                </a:solidFill>
                <a:latin typeface="Cambria"/>
              </a:rPr>
              <a:t>Force removed</a:t>
            </a:r>
          </a:p>
        </p:txBody>
      </p:sp>
      <p:sp>
        <p:nvSpPr>
          <p:cNvPr id="19" name="text The tactile adapter "/>
          <p:cNvSpPr txBox="1"/>
          <p:nvPr/>
        </p:nvSpPr>
        <p:spPr>
          <a:xfrm>
            <a:off x="6446520" y="3154680"/>
            <a:ext cx="2240280" cy="2194560"/>
          </a:xfrm>
          <a:prstGeom prst="rect">
            <a:avLst/>
          </a:prstGeom>
          <a:noFill/>
        </p:spPr>
        <p:txBody>
          <a:bodyPr wrap="square" lIns="0" rIns="0" tIns="0" bIns="0" anchor="t">
            <a:spAutoFit/>
          </a:bodyPr>
          <a:lstStyle/>
          <a:p>
            <a:pPr algn="l"/>
            <a:r>
              <a:rPr sz="1400" b="0" i="0">
                <a:solidFill>
                  <a:srgbClr val="1F2937"/>
                </a:solidFill>
                <a:latin typeface="Calibri"/>
              </a:rPr>
              <a:t>The tactile adapter with no block at all: does it still rank by what it learned from video?</a:t>
            </a:r>
          </a:p>
        </p:txBody>
      </p:sp>
      <p:sp>
        <p:nvSpPr>
          <p:cNvPr id="20" name="card"/>
          <p:cNvSpPr/>
          <p:nvPr/>
        </p:nvSpPr>
        <p:spPr>
          <a:xfrm>
            <a:off x="9052560" y="1463040"/>
            <a:ext cx="2651760" cy="40233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t3"/>
          <p:cNvSpPr/>
          <p:nvPr/>
        </p:nvSpPr>
        <p:spPr>
          <a:xfrm>
            <a:off x="9281160" y="1691640"/>
            <a:ext cx="457200" cy="457200"/>
          </a:xfrm>
          <a:prstGeom prst="roundRect">
            <a:avLst>
              <a:gd name="adj" fmla="val 8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4"/>
          <p:cNvSpPr txBox="1"/>
          <p:nvPr/>
        </p:nvSpPr>
        <p:spPr>
          <a:xfrm>
            <a:off x="9281160" y="1691640"/>
            <a:ext cx="457200" cy="457200"/>
          </a:xfrm>
          <a:prstGeom prst="rect">
            <a:avLst/>
          </a:prstGeom>
          <a:noFill/>
        </p:spPr>
        <p:txBody>
          <a:bodyPr wrap="square" lIns="0" rIns="0" tIns="0" bIns="0" anchor="ctr">
            <a:spAutoFit/>
          </a:bodyPr>
          <a:lstStyle/>
          <a:p>
            <a:pPr algn="ctr"/>
            <a:r>
              <a:rPr sz="1600" b="1" i="0">
                <a:solidFill>
                  <a:srgbClr val="FFFFFF"/>
                </a:solidFill>
                <a:latin typeface="Calibri"/>
              </a:rPr>
              <a:t>4</a:t>
            </a:r>
          </a:p>
        </p:txBody>
      </p:sp>
      <p:sp>
        <p:nvSpPr>
          <p:cNvPr id="23" name="text Video blanked"/>
          <p:cNvSpPr txBox="1"/>
          <p:nvPr/>
        </p:nvSpPr>
        <p:spPr>
          <a:xfrm>
            <a:off x="9281160" y="2286000"/>
            <a:ext cx="2240280" cy="822960"/>
          </a:xfrm>
          <a:prstGeom prst="rect">
            <a:avLst/>
          </a:prstGeom>
          <a:noFill/>
        </p:spPr>
        <p:txBody>
          <a:bodyPr wrap="square" lIns="0" rIns="0" tIns="0" bIns="0" anchor="t">
            <a:spAutoFit/>
          </a:bodyPr>
          <a:lstStyle/>
          <a:p>
            <a:pPr algn="l"/>
            <a:r>
              <a:rPr sz="1800" b="1" i="0">
                <a:solidFill>
                  <a:srgbClr val="1F2937"/>
                </a:solidFill>
                <a:latin typeface="Cambria"/>
              </a:rPr>
              <a:t>Video blanked</a:t>
            </a:r>
          </a:p>
        </p:txBody>
      </p:sp>
      <p:sp>
        <p:nvSpPr>
          <p:cNvPr id="24" name="text Frames mid-gray, for"/>
          <p:cNvSpPr txBox="1"/>
          <p:nvPr/>
        </p:nvSpPr>
        <p:spPr>
          <a:xfrm>
            <a:off x="9281160" y="3154680"/>
            <a:ext cx="2240280" cy="2194560"/>
          </a:xfrm>
          <a:prstGeom prst="rect">
            <a:avLst/>
          </a:prstGeom>
          <a:noFill/>
        </p:spPr>
        <p:txBody>
          <a:bodyPr wrap="square" lIns="0" rIns="0" tIns="0" bIns="0" anchor="t">
            <a:spAutoFit/>
          </a:bodyPr>
          <a:lstStyle/>
          <a:p>
            <a:pPr algn="l"/>
            <a:r>
              <a:rPr sz="1400" b="0" i="0">
                <a:solidFill>
                  <a:srgbClr val="1F2937"/>
                </a:solidFill>
                <a:latin typeface="Calibri"/>
              </a:rPr>
              <a:t>Frames mid-gray, force only: what the force carries on its own.</a:t>
            </a:r>
          </a:p>
        </p:txBody>
      </p:sp>
      <p:sp>
        <p:nvSpPr>
          <p:cNvPr id="25" name="text Held-out sets are ob"/>
          <p:cNvSpPr txBox="1"/>
          <p:nvPr/>
        </p:nvSpPr>
        <p:spPr>
          <a:xfrm>
            <a:off x="548640" y="5715000"/>
            <a:ext cx="11064240" cy="548640"/>
          </a:xfrm>
          <a:prstGeom prst="rect">
            <a:avLst/>
          </a:prstGeom>
          <a:noFill/>
        </p:spPr>
        <p:txBody>
          <a:bodyPr wrap="square" lIns="0" rIns="0" tIns="0" bIns="0" anchor="t">
            <a:spAutoFit/>
          </a:bodyPr>
          <a:lstStyle/>
          <a:p>
            <a:pPr algn="l"/>
            <a:r>
              <a:rPr sz="1300" b="0" i="0">
                <a:solidFill>
                  <a:srgbClr val="6B7280"/>
                </a:solidFill>
                <a:latin typeface="Calibri"/>
              </a:rPr>
              <a:t>Held-out sets are object-disjoint from training, split by object hash before any model ran, and scored once with fixed settings (threshold 4.0, no checkpoint selection).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6"/>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Four stages: each one fixed what the previous one showed was wrong</a:t>
            </a:r>
          </a:p>
        </p:txBody>
      </p:sp>
      <p:sp>
        <p:nvSpPr>
          <p:cNvPr id="5" name="step0"/>
          <p:cNvSpPr/>
          <p:nvPr/>
        </p:nvSpPr>
        <p:spPr>
          <a:xfrm>
            <a:off x="548640" y="2103120"/>
            <a:ext cx="457200" cy="457200"/>
          </a:xfrm>
          <a:prstGeom prst="roundRect">
            <a:avLst>
              <a:gd name="adj" fmla="val 8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1"/>
          <p:cNvSpPr txBox="1"/>
          <p:nvPr/>
        </p:nvSpPr>
        <p:spPr>
          <a:xfrm>
            <a:off x="548640" y="2103120"/>
            <a:ext cx="457200" cy="457200"/>
          </a:xfrm>
          <a:prstGeom prst="rect">
            <a:avLst/>
          </a:prstGeom>
          <a:noFill/>
        </p:spPr>
        <p:txBody>
          <a:bodyPr wrap="square" lIns="0" rIns="0" tIns="0" bIns="0" anchor="ctr">
            <a:spAutoFit/>
          </a:bodyPr>
          <a:lstStyle/>
          <a:p>
            <a:pPr algn="ctr"/>
            <a:r>
              <a:rPr sz="1400" b="1" i="0">
                <a:solidFill>
                  <a:srgbClr val="FFFFFF"/>
                </a:solidFill>
                <a:latin typeface="Calibri"/>
              </a:rPr>
              <a:t>1</a:t>
            </a:r>
          </a:p>
        </p:txBody>
      </p:sp>
      <p:cxnSp>
        <p:nvCxnSpPr>
          <p:cNvPr id="7" name="Connector 6"/>
          <p:cNvCxnSpPr/>
          <p:nvPr/>
        </p:nvCxnSpPr>
        <p:spPr>
          <a:xfrm>
            <a:off x="1097280" y="2331720"/>
            <a:ext cx="1645920" cy="0"/>
          </a:xfrm>
          <a:prstGeom prst="line">
            <a:avLst/>
          </a:prstGeom>
          <a:ln w="22225">
            <a:solidFill>
              <a:srgbClr val="D6DD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 Pilot"/>
          <p:cNvSpPr txBox="1"/>
          <p:nvPr/>
        </p:nvSpPr>
        <p:spPr>
          <a:xfrm>
            <a:off x="548640" y="2743200"/>
            <a:ext cx="2103120" cy="457200"/>
          </a:xfrm>
          <a:prstGeom prst="rect">
            <a:avLst/>
          </a:prstGeom>
          <a:noFill/>
        </p:spPr>
        <p:txBody>
          <a:bodyPr wrap="square" lIns="0" rIns="0" tIns="0" bIns="0" anchor="t">
            <a:spAutoFit/>
          </a:bodyPr>
          <a:lstStyle/>
          <a:p>
            <a:pPr algn="l"/>
            <a:r>
              <a:rPr sz="1800" b="1" i="0">
                <a:solidFill>
                  <a:srgbClr val="1F2937"/>
                </a:solidFill>
                <a:latin typeface="Cambria"/>
              </a:rPr>
              <a:t>Pilot</a:t>
            </a:r>
          </a:p>
        </p:txBody>
      </p:sp>
      <p:sp>
        <p:nvSpPr>
          <p:cNvPr id="9" name="text 32 / 16 HRDexDB clip"/>
          <p:cNvSpPr txBox="1"/>
          <p:nvPr/>
        </p:nvSpPr>
        <p:spPr>
          <a:xfrm>
            <a:off x="548640" y="3200400"/>
            <a:ext cx="2103120" cy="1188720"/>
          </a:xfrm>
          <a:prstGeom prst="rect">
            <a:avLst/>
          </a:prstGeom>
          <a:noFill/>
        </p:spPr>
        <p:txBody>
          <a:bodyPr wrap="square" lIns="0" rIns="0" tIns="0" bIns="0" anchor="t">
            <a:spAutoFit/>
          </a:bodyPr>
          <a:lstStyle/>
          <a:p>
            <a:pPr algn="l"/>
            <a:r>
              <a:rPr sz="1300" b="0" i="0">
                <a:solidFill>
                  <a:srgbClr val="6B7280"/>
                </a:solidFill>
                <a:latin typeface="Calibri"/>
              </a:rPr>
              <a:t>32 / 16 HRDexDB clips</a:t>
            </a:r>
          </a:p>
        </p:txBody>
      </p:sp>
      <p:sp>
        <p:nvSpPr>
          <p:cNvPr id="10" name="text No force benefit. Au"/>
          <p:cNvSpPr txBox="1"/>
          <p:nvPr/>
        </p:nvSpPr>
        <p:spPr>
          <a:xfrm>
            <a:off x="548640" y="4480560"/>
            <a:ext cx="2103120" cy="1188720"/>
          </a:xfrm>
          <a:prstGeom prst="rect">
            <a:avLst/>
          </a:prstGeom>
          <a:noFill/>
        </p:spPr>
        <p:txBody>
          <a:bodyPr wrap="square" lIns="0" rIns="0" tIns="0" bIns="0" anchor="t">
            <a:spAutoFit/>
          </a:bodyPr>
          <a:lstStyle/>
          <a:p>
            <a:pPr algn="l"/>
            <a:r>
              <a:rPr sz="1300" b="0" i="0">
                <a:solidFill>
                  <a:srgbClr val="1F2937"/>
                </a:solidFill>
                <a:latin typeface="Calibri"/>
              </a:rPr>
              <a:t>No force benefit. Audit: tiny sample, unaligned sensor and video clocks.</a:t>
            </a:r>
          </a:p>
        </p:txBody>
      </p:sp>
      <p:sp>
        <p:nvSpPr>
          <p:cNvPr id="11" name="step1"/>
          <p:cNvSpPr/>
          <p:nvPr/>
        </p:nvSpPr>
        <p:spPr>
          <a:xfrm>
            <a:off x="2834640" y="2103120"/>
            <a:ext cx="457200" cy="457200"/>
          </a:xfrm>
          <a:prstGeom prst="roundRect">
            <a:avLst>
              <a:gd name="adj" fmla="val 8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2"/>
          <p:cNvSpPr txBox="1"/>
          <p:nvPr/>
        </p:nvSpPr>
        <p:spPr>
          <a:xfrm>
            <a:off x="2834640" y="2103120"/>
            <a:ext cx="457200" cy="457200"/>
          </a:xfrm>
          <a:prstGeom prst="rect">
            <a:avLst/>
          </a:prstGeom>
          <a:noFill/>
        </p:spPr>
        <p:txBody>
          <a:bodyPr wrap="square" lIns="0" rIns="0" tIns="0" bIns="0" anchor="ctr">
            <a:spAutoFit/>
          </a:bodyPr>
          <a:lstStyle/>
          <a:p>
            <a:pPr algn="ctr"/>
            <a:r>
              <a:rPr sz="1400" b="1" i="0">
                <a:solidFill>
                  <a:srgbClr val="FFFFFF"/>
                </a:solidFill>
                <a:latin typeface="Calibri"/>
              </a:rPr>
              <a:t>2</a:t>
            </a:r>
          </a:p>
        </p:txBody>
      </p:sp>
      <p:cxnSp>
        <p:nvCxnSpPr>
          <p:cNvPr id="13" name="Connector 12"/>
          <p:cNvCxnSpPr/>
          <p:nvPr/>
        </p:nvCxnSpPr>
        <p:spPr>
          <a:xfrm>
            <a:off x="3383280" y="2331720"/>
            <a:ext cx="1645920" cy="0"/>
          </a:xfrm>
          <a:prstGeom prst="line">
            <a:avLst/>
          </a:prstGeom>
          <a:ln w="22225">
            <a:solidFill>
              <a:srgbClr val="D6DD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 Expanded v2"/>
          <p:cNvSpPr txBox="1"/>
          <p:nvPr/>
        </p:nvSpPr>
        <p:spPr>
          <a:xfrm>
            <a:off x="2834640" y="2743200"/>
            <a:ext cx="2103120" cy="457200"/>
          </a:xfrm>
          <a:prstGeom prst="rect">
            <a:avLst/>
          </a:prstGeom>
          <a:noFill/>
        </p:spPr>
        <p:txBody>
          <a:bodyPr wrap="square" lIns="0" rIns="0" tIns="0" bIns="0" anchor="t">
            <a:spAutoFit/>
          </a:bodyPr>
          <a:lstStyle/>
          <a:p>
            <a:pPr algn="l"/>
            <a:r>
              <a:rPr sz="1800" b="1" i="0">
                <a:solidFill>
                  <a:srgbClr val="1F2937"/>
                </a:solidFill>
                <a:latin typeface="Cambria"/>
              </a:rPr>
              <a:t>Expanded v2</a:t>
            </a:r>
          </a:p>
        </p:txBody>
      </p:sp>
      <p:sp>
        <p:nvSpPr>
          <p:cNvPr id="15" name="text 618 clips, aligned c"/>
          <p:cNvSpPr txBox="1"/>
          <p:nvPr/>
        </p:nvSpPr>
        <p:spPr>
          <a:xfrm>
            <a:off x="2834640" y="3200400"/>
            <a:ext cx="2103120" cy="1188720"/>
          </a:xfrm>
          <a:prstGeom prst="rect">
            <a:avLst/>
          </a:prstGeom>
          <a:noFill/>
        </p:spPr>
        <p:txBody>
          <a:bodyPr wrap="square" lIns="0" rIns="0" tIns="0" bIns="0" anchor="t">
            <a:spAutoFit/>
          </a:bodyPr>
          <a:lstStyle/>
          <a:p>
            <a:pPr algn="l"/>
            <a:r>
              <a:rPr sz="1300" b="0" i="0">
                <a:solidFill>
                  <a:srgbClr val="6B7280"/>
                </a:solidFill>
                <a:latin typeface="Calibri"/>
              </a:rPr>
              <a:t>618 clips, aligned clocks, frozen object-disjoint splits 350 / 136 / 115</a:t>
            </a:r>
          </a:p>
        </p:txBody>
      </p:sp>
      <p:sp>
        <p:nvSpPr>
          <p:cNvPr id="16" name="text Still no benefit: 82"/>
          <p:cNvSpPr txBox="1"/>
          <p:nvPr/>
        </p:nvSpPr>
        <p:spPr>
          <a:xfrm>
            <a:off x="2834640" y="4480560"/>
            <a:ext cx="2103120" cy="1188720"/>
          </a:xfrm>
          <a:prstGeom prst="rect">
            <a:avLst/>
          </a:prstGeom>
          <a:noFill/>
        </p:spPr>
        <p:txBody>
          <a:bodyPr wrap="square" lIns="0" rIns="0" tIns="0" bIns="0" anchor="t">
            <a:spAutoFit/>
          </a:bodyPr>
          <a:lstStyle/>
          <a:p>
            <a:pPr algn="l"/>
            <a:r>
              <a:rPr sz="1300" b="0" i="0">
                <a:solidFill>
                  <a:srgbClr val="1F2937"/>
                </a:solidFill>
                <a:latin typeface="Calibri"/>
              </a:rPr>
              <a:t>Still no benefit: 82.4% vs 81.6%. Block found nearly uninformative.</a:t>
            </a:r>
          </a:p>
        </p:txBody>
      </p:sp>
      <p:sp>
        <p:nvSpPr>
          <p:cNvPr id="17" name="step2"/>
          <p:cNvSpPr/>
          <p:nvPr/>
        </p:nvSpPr>
        <p:spPr>
          <a:xfrm>
            <a:off x="5120640" y="2103120"/>
            <a:ext cx="457200" cy="457200"/>
          </a:xfrm>
          <a:prstGeom prst="roundRect">
            <a:avLst>
              <a:gd name="adj" fmla="val 8000"/>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3"/>
          <p:cNvSpPr txBox="1"/>
          <p:nvPr/>
        </p:nvSpPr>
        <p:spPr>
          <a:xfrm>
            <a:off x="5120640" y="2103120"/>
            <a:ext cx="457200" cy="457200"/>
          </a:xfrm>
          <a:prstGeom prst="rect">
            <a:avLst/>
          </a:prstGeom>
          <a:noFill/>
        </p:spPr>
        <p:txBody>
          <a:bodyPr wrap="square" lIns="0" rIns="0" tIns="0" bIns="0" anchor="ctr">
            <a:spAutoFit/>
          </a:bodyPr>
          <a:lstStyle/>
          <a:p>
            <a:pPr algn="ctr"/>
            <a:r>
              <a:rPr sz="1400" b="1" i="0">
                <a:solidFill>
                  <a:srgbClr val="FFFFFF"/>
                </a:solidFill>
                <a:latin typeface="Calibri"/>
              </a:rPr>
              <a:t>3</a:t>
            </a:r>
          </a:p>
        </p:txBody>
      </p:sp>
      <p:cxnSp>
        <p:nvCxnSpPr>
          <p:cNvPr id="19" name="Connector 18"/>
          <p:cNvCxnSpPr/>
          <p:nvPr/>
        </p:nvCxnSpPr>
        <p:spPr>
          <a:xfrm>
            <a:off x="5669279" y="2331720"/>
            <a:ext cx="1645921" cy="0"/>
          </a:xfrm>
          <a:prstGeom prst="line">
            <a:avLst/>
          </a:prstGeom>
          <a:ln w="22225">
            <a:solidFill>
              <a:srgbClr val="D6DD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 Bugs found"/>
          <p:cNvSpPr txBox="1"/>
          <p:nvPr/>
        </p:nvSpPr>
        <p:spPr>
          <a:xfrm>
            <a:off x="5120640" y="2743200"/>
            <a:ext cx="2103120" cy="457200"/>
          </a:xfrm>
          <a:prstGeom prst="rect">
            <a:avLst/>
          </a:prstGeom>
          <a:noFill/>
        </p:spPr>
        <p:txBody>
          <a:bodyPr wrap="square" lIns="0" rIns="0" tIns="0" bIns="0" anchor="t">
            <a:spAutoFit/>
          </a:bodyPr>
          <a:lstStyle/>
          <a:p>
            <a:pPr algn="l"/>
            <a:r>
              <a:rPr sz="1800" b="1" i="0">
                <a:solidFill>
                  <a:srgbClr val="1F2937"/>
                </a:solidFill>
                <a:latin typeface="Cambria"/>
              </a:rPr>
              <a:t>Bugs found</a:t>
            </a:r>
          </a:p>
        </p:txBody>
      </p:sp>
      <p:sp>
        <p:nvSpPr>
          <p:cNvPr id="21" name="text Inverted closure sig"/>
          <p:cNvSpPr txBox="1"/>
          <p:nvPr/>
        </p:nvSpPr>
        <p:spPr>
          <a:xfrm>
            <a:off x="5120640" y="3200400"/>
            <a:ext cx="2103120" cy="1188720"/>
          </a:xfrm>
          <a:prstGeom prst="rect">
            <a:avLst/>
          </a:prstGeom>
          <a:noFill/>
        </p:spPr>
        <p:txBody>
          <a:bodyPr wrap="square" lIns="0" rIns="0" tIns="0" bIns="0" anchor="t">
            <a:spAutoFit/>
          </a:bodyPr>
          <a:lstStyle/>
          <a:p>
            <a:pPr algn="l"/>
            <a:r>
              <a:rPr sz="1300" b="0" i="0">
                <a:solidFill>
                  <a:srgbClr val="6B7280"/>
                </a:solidFill>
                <a:latin typeface="Calibri"/>
              </a:rPr>
              <a:t>Inverted closure sign, force saturated at 37.5 units, contact flag always on</a:t>
            </a:r>
          </a:p>
        </p:txBody>
      </p:sp>
      <p:sp>
        <p:nvSpPr>
          <p:cNvPr id="22" name="text Classifier on render"/>
          <p:cNvSpPr txBox="1"/>
          <p:nvPr/>
        </p:nvSpPr>
        <p:spPr>
          <a:xfrm>
            <a:off x="5120640" y="4480560"/>
            <a:ext cx="2103120" cy="1188720"/>
          </a:xfrm>
          <a:prstGeom prst="rect">
            <a:avLst/>
          </a:prstGeom>
          <a:noFill/>
        </p:spPr>
        <p:txBody>
          <a:bodyPr wrap="square" lIns="0" rIns="0" tIns="0" bIns="0" anchor="t">
            <a:spAutoFit/>
          </a:bodyPr>
          <a:lstStyle/>
          <a:p>
            <a:pPr algn="l"/>
            <a:r>
              <a:rPr sz="1300" b="0" i="0">
                <a:solidFill>
                  <a:srgbClr val="1F2937"/>
                </a:solidFill>
                <a:latin typeface="Calibri"/>
              </a:rPr>
              <a:t>Classifier on rendered lines: AUROC 0.57; on raw tared force: 0.78.</a:t>
            </a:r>
          </a:p>
        </p:txBody>
      </p:sp>
      <p:sp>
        <p:nvSpPr>
          <p:cNvPr id="23" name="step3"/>
          <p:cNvSpPr/>
          <p:nvPr/>
        </p:nvSpPr>
        <p:spPr>
          <a:xfrm>
            <a:off x="7406640" y="2103120"/>
            <a:ext cx="457200" cy="457200"/>
          </a:xfrm>
          <a:prstGeom prst="roundRect">
            <a:avLst>
              <a:gd name="adj" fmla="val 8000"/>
            </a:avLst>
          </a:prstGeom>
          <a:solidFill>
            <a:srgbClr val="2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4"/>
          <p:cNvSpPr txBox="1"/>
          <p:nvPr/>
        </p:nvSpPr>
        <p:spPr>
          <a:xfrm>
            <a:off x="7406640" y="2103120"/>
            <a:ext cx="457200" cy="457200"/>
          </a:xfrm>
          <a:prstGeom prst="rect">
            <a:avLst/>
          </a:prstGeom>
          <a:noFill/>
        </p:spPr>
        <p:txBody>
          <a:bodyPr wrap="square" lIns="0" rIns="0" tIns="0" bIns="0" anchor="ctr">
            <a:spAutoFit/>
          </a:bodyPr>
          <a:lstStyle/>
          <a:p>
            <a:pPr algn="ctr"/>
            <a:r>
              <a:rPr sz="1400" b="1" i="0">
                <a:solidFill>
                  <a:srgbClr val="FFFFFF"/>
                </a:solidFill>
                <a:latin typeface="Calibri"/>
              </a:rPr>
              <a:t>4</a:t>
            </a:r>
          </a:p>
        </p:txBody>
      </p:sp>
      <p:cxnSp>
        <p:nvCxnSpPr>
          <p:cNvPr id="25" name="Connector 24"/>
          <p:cNvCxnSpPr/>
          <p:nvPr/>
        </p:nvCxnSpPr>
        <p:spPr>
          <a:xfrm>
            <a:off x="7955279" y="2331720"/>
            <a:ext cx="1645921" cy="0"/>
          </a:xfrm>
          <a:prstGeom prst="line">
            <a:avLst/>
          </a:prstGeom>
          <a:ln w="22225">
            <a:solidFill>
              <a:srgbClr val="D6DD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 v3 (primary)"/>
          <p:cNvSpPr txBox="1"/>
          <p:nvPr/>
        </p:nvSpPr>
        <p:spPr>
          <a:xfrm>
            <a:off x="7406640" y="2743200"/>
            <a:ext cx="2103120" cy="457200"/>
          </a:xfrm>
          <a:prstGeom prst="rect">
            <a:avLst/>
          </a:prstGeom>
          <a:noFill/>
        </p:spPr>
        <p:txBody>
          <a:bodyPr wrap="square" lIns="0" rIns="0" tIns="0" bIns="0" anchor="t">
            <a:spAutoFit/>
          </a:bodyPr>
          <a:lstStyle/>
          <a:p>
            <a:pPr algn="l"/>
            <a:r>
              <a:rPr sz="1800" b="1" i="0">
                <a:solidFill>
                  <a:srgbClr val="1F2937"/>
                </a:solidFill>
                <a:latin typeface="Cambria"/>
              </a:rPr>
              <a:t>v3 (primary)</a:t>
            </a:r>
          </a:p>
        </p:txBody>
      </p:sp>
      <p:sp>
        <p:nvSpPr>
          <p:cNvPr id="27" name="text Tared, peak-ranked, "/>
          <p:cNvSpPr txBox="1"/>
          <p:nvPr/>
        </p:nvSpPr>
        <p:spPr>
          <a:xfrm>
            <a:off x="7406640" y="3200400"/>
            <a:ext cx="2103120" cy="1188720"/>
          </a:xfrm>
          <a:prstGeom prst="rect">
            <a:avLst/>
          </a:prstGeom>
          <a:noFill/>
        </p:spPr>
        <p:txBody>
          <a:bodyPr wrap="square" lIns="0" rIns="0" tIns="0" bIns="0" anchor="t">
            <a:spAutoFit/>
          </a:bodyPr>
          <a:lstStyle/>
          <a:p>
            <a:pPr algn="l"/>
            <a:r>
              <a:rPr sz="1300" b="0" i="0">
                <a:solidFill>
                  <a:srgbClr val="6B7280"/>
                </a:solidFill>
                <a:latin typeface="Calibri"/>
              </a:rPr>
              <a:t>Tared, peak-ranked, sign-corrected, summary line, classifier P</a:t>
            </a:r>
          </a:p>
        </p:txBody>
      </p:sp>
      <p:sp>
        <p:nvSpPr>
          <p:cNvPr id="28" name="text 85.3% / AUROC 0.926 "/>
          <p:cNvSpPr txBox="1"/>
          <p:nvPr/>
        </p:nvSpPr>
        <p:spPr>
          <a:xfrm>
            <a:off x="7406640" y="4480560"/>
            <a:ext cx="2103120" cy="1188720"/>
          </a:xfrm>
          <a:prstGeom prst="rect">
            <a:avLst/>
          </a:prstGeom>
          <a:noFill/>
        </p:spPr>
        <p:txBody>
          <a:bodyPr wrap="square" lIns="0" rIns="0" tIns="0" bIns="0" anchor="t">
            <a:spAutoFit/>
          </a:bodyPr>
          <a:lstStyle/>
          <a:p>
            <a:pPr algn="l"/>
            <a:r>
              <a:rPr sz="1300" b="0" i="0">
                <a:solidFill>
                  <a:srgbClr val="1F2937"/>
                </a:solidFill>
                <a:latin typeface="Calibri"/>
              </a:rPr>
              <a:t>85.3% / AUROC 0.926 on dev; 72.2% / 0.800 on test.</a:t>
            </a:r>
          </a:p>
        </p:txBody>
      </p:sp>
      <p:sp>
        <p:nvSpPr>
          <p:cNvPr id="29" name="step4"/>
          <p:cNvSpPr/>
          <p:nvPr/>
        </p:nvSpPr>
        <p:spPr>
          <a:xfrm>
            <a:off x="9692640" y="2103120"/>
            <a:ext cx="457200" cy="457200"/>
          </a:xfrm>
          <a:prstGeom prst="roundRect">
            <a:avLst>
              <a:gd name="adj" fmla="val 8000"/>
            </a:avLst>
          </a:prstGeom>
          <a:solidFill>
            <a:srgbClr val="2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5"/>
          <p:cNvSpPr txBox="1"/>
          <p:nvPr/>
        </p:nvSpPr>
        <p:spPr>
          <a:xfrm>
            <a:off x="9692640" y="2103120"/>
            <a:ext cx="457200" cy="457200"/>
          </a:xfrm>
          <a:prstGeom prst="rect">
            <a:avLst/>
          </a:prstGeom>
          <a:noFill/>
        </p:spPr>
        <p:txBody>
          <a:bodyPr wrap="square" lIns="0" rIns="0" tIns="0" bIns="0" anchor="ctr">
            <a:spAutoFit/>
          </a:bodyPr>
          <a:lstStyle/>
          <a:p>
            <a:pPr algn="ctr"/>
            <a:r>
              <a:rPr sz="1400" b="1" i="0">
                <a:solidFill>
                  <a:srgbClr val="FFFFFF"/>
                </a:solidFill>
                <a:latin typeface="Calibri"/>
              </a:rPr>
              <a:t>5</a:t>
            </a:r>
          </a:p>
        </p:txBody>
      </p:sp>
      <p:sp>
        <p:nvSpPr>
          <p:cNvPr id="31" name="text Baxter"/>
          <p:cNvSpPr txBox="1"/>
          <p:nvPr/>
        </p:nvSpPr>
        <p:spPr>
          <a:xfrm>
            <a:off x="9692640" y="2743200"/>
            <a:ext cx="2103120" cy="457200"/>
          </a:xfrm>
          <a:prstGeom prst="rect">
            <a:avLst/>
          </a:prstGeom>
          <a:noFill/>
        </p:spPr>
        <p:txBody>
          <a:bodyPr wrap="square" lIns="0" rIns="0" tIns="0" bIns="0" anchor="t">
            <a:spAutoFit/>
          </a:bodyPr>
          <a:lstStyle/>
          <a:p>
            <a:pPr algn="l"/>
            <a:r>
              <a:rPr sz="1800" b="1" i="0">
                <a:solidFill>
                  <a:srgbClr val="1F2937"/>
                </a:solidFill>
                <a:latin typeface="Cambria"/>
              </a:rPr>
              <a:t>Baxter</a:t>
            </a:r>
          </a:p>
        </p:txBody>
      </p:sp>
      <p:sp>
        <p:nvSpPr>
          <p:cNvPr id="32" name="text FSR fingertips, 50 d"/>
          <p:cNvSpPr txBox="1"/>
          <p:nvPr/>
        </p:nvSpPr>
        <p:spPr>
          <a:xfrm>
            <a:off x="9692640" y="3200400"/>
            <a:ext cx="2103120" cy="1188720"/>
          </a:xfrm>
          <a:prstGeom prst="rect">
            <a:avLst/>
          </a:prstGeom>
          <a:noFill/>
        </p:spPr>
        <p:txBody>
          <a:bodyPr wrap="square" lIns="0" rIns="0" tIns="0" bIns="0" anchor="t">
            <a:spAutoFit/>
          </a:bodyPr>
          <a:lstStyle/>
          <a:p>
            <a:pPr algn="l"/>
            <a:r>
              <a:rPr sz="1300" b="0" i="0">
                <a:solidFill>
                  <a:srgbClr val="6B7280"/>
                </a:solidFill>
                <a:latin typeface="Calibri"/>
              </a:rPr>
              <a:t>FSR fingertips, 50 demos, ACT policy, 10 rollouts</a:t>
            </a:r>
          </a:p>
        </p:txBody>
      </p:sp>
      <p:sp>
        <p:nvSpPr>
          <p:cNvPr id="33" name="text Zero-shot: force tak"/>
          <p:cNvSpPr txBox="1"/>
          <p:nvPr/>
        </p:nvSpPr>
        <p:spPr>
          <a:xfrm>
            <a:off x="9692640" y="4480560"/>
            <a:ext cx="2103120" cy="1188720"/>
          </a:xfrm>
          <a:prstGeom prst="rect">
            <a:avLst/>
          </a:prstGeom>
          <a:noFill/>
        </p:spPr>
        <p:txBody>
          <a:bodyPr wrap="square" lIns="0" rIns="0" tIns="0" bIns="0" anchor="t">
            <a:spAutoFit/>
          </a:bodyPr>
          <a:lstStyle/>
          <a:p>
            <a:pPr algn="l"/>
            <a:r>
              <a:rPr sz="1300" b="0" i="0">
                <a:solidFill>
                  <a:srgbClr val="1F2937"/>
                </a:solidFill>
                <a:latin typeface="Calibri"/>
              </a:rPr>
              <a:t>Zero-shot: force takes AUROC from 0.31 to 1.0.</a:t>
            </a:r>
          </a:p>
        </p:txBody>
      </p:sp>
      <p:sp>
        <p:nvSpPr>
          <p:cNvPr id="34" name="text Training: released F"/>
          <p:cNvSpPr txBox="1"/>
          <p:nvPr/>
        </p:nvSpPr>
        <p:spPr>
          <a:xfrm>
            <a:off x="548640" y="5760720"/>
            <a:ext cx="11064240" cy="548640"/>
          </a:xfrm>
          <a:prstGeom prst="rect">
            <a:avLst/>
          </a:prstGeom>
          <a:noFill/>
        </p:spPr>
        <p:txBody>
          <a:bodyPr wrap="square" lIns="0" rIns="0" tIns="0" bIns="0" anchor="t">
            <a:spAutoFit/>
          </a:bodyPr>
          <a:lstStyle/>
          <a:p>
            <a:pPr algn="l"/>
            <a:r>
              <a:rPr sz="1200" b="0" i="0">
                <a:solidFill>
                  <a:srgbClr val="6B7280"/>
                </a:solidFill>
                <a:latin typeface="Calibri"/>
              </a:rPr>
              <a:t>Training: released FLORA base, four epochs, seed 17, LoRA r32/a64, lr 2e-5, batch 16, 88 updates, two AMD MI210s. Only the force representation changed between v2 and v3.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7"/>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HRDexDB: the tactile fine-tune ranks best on every held-out split</a:t>
            </a:r>
          </a:p>
        </p:txBody>
      </p:sp>
      <p:pic>
        <p:nvPicPr>
          <p:cNvPr id="5" name="hrdexdb auroc chart" descr="hrdexdb_auroc.png"/>
          <p:cNvPicPr>
            <a:picLocks noChangeAspect="1"/>
          </p:cNvPicPr>
          <p:nvPr/>
        </p:nvPicPr>
        <p:blipFill>
          <a:blip r:embed="rId2"/>
          <a:stretch>
            <a:fillRect/>
          </a:stretch>
        </p:blipFill>
        <p:spPr>
          <a:xfrm>
            <a:off x="548640" y="1325880"/>
            <a:ext cx="7315200" cy="3746810"/>
          </a:xfrm>
          <a:prstGeom prst="rect">
            <a:avLst/>
          </a:prstGeom>
        </p:spPr>
      </p:pic>
      <p:sp>
        <p:nvSpPr>
          <p:cNvPr id="6" name="text Accuracy at the 4.0 "/>
          <p:cNvSpPr txBox="1"/>
          <p:nvPr/>
        </p:nvSpPr>
        <p:spPr>
          <a:xfrm>
            <a:off x="8138160" y="1417320"/>
            <a:ext cx="3566160" cy="365760"/>
          </a:xfrm>
          <a:prstGeom prst="rect">
            <a:avLst/>
          </a:prstGeom>
          <a:noFill/>
        </p:spPr>
        <p:txBody>
          <a:bodyPr wrap="square" lIns="0" rIns="0" tIns="0" bIns="0" anchor="t">
            <a:spAutoFit/>
          </a:bodyPr>
          <a:lstStyle/>
          <a:p>
            <a:pPr algn="l"/>
            <a:r>
              <a:rPr sz="1300" b="1" i="0">
                <a:solidFill>
                  <a:srgbClr val="6B7280"/>
                </a:solidFill>
                <a:latin typeface="Calibri"/>
              </a:rPr>
              <a:t>Accuracy at the 4.0 threshold</a:t>
            </a:r>
          </a:p>
        </p:txBody>
      </p:sp>
      <p:graphicFrame>
        <p:nvGraphicFramePr>
          <p:cNvPr id="7" name="Table 6"/>
          <p:cNvGraphicFramePr>
            <a:graphicFrameLocks noGrp="1"/>
          </p:cNvGraphicFramePr>
          <p:nvPr/>
        </p:nvGraphicFramePr>
        <p:xfrm>
          <a:off x="8138160" y="1828800"/>
          <a:ext cx="3566160" cy="1316736"/>
        </p:xfrm>
        <a:graphic>
          <a:graphicData uri="http://schemas.openxmlformats.org/drawingml/2006/table">
            <a:tbl>
              <a:tblPr firstRow="1" bandRow="1">
                <a:tableStyleId>{5C22544A-7EE6-4342-B048-85BDC9FD1C3A}</a:tableStyleId>
              </a:tblPr>
              <a:tblGrid>
                <a:gridCol w="1280160"/>
                <a:gridCol w="758952"/>
                <a:gridCol w="758952"/>
                <a:gridCol w="768096"/>
              </a:tblGrid>
              <a:tr h="329184">
                <a:tc>
                  <a:txBody>
                    <a:bodyPr wrap="square"/>
                    <a:lstStyle/>
                    <a:p>
                      <a:pPr algn="l"/>
                      <a:r>
                        <a:rPr sz="1300" b="1">
                          <a:solidFill>
                            <a:srgbClr val="1F2937"/>
                          </a:solidFill>
                          <a:latin typeface="Calibri"/>
                        </a:rPr>
                        <a:t>Model</a:t>
                      </a:r>
                    </a:p>
                  </a:txBody>
                  <a:tcPr marL="54864" marR="54864" marT="18288" marB="18288">
                    <a:solidFill>
                      <a:srgbClr val="EEF2F6"/>
                    </a:solidFill>
                  </a:tcPr>
                </a:tc>
                <a:tc>
                  <a:txBody>
                    <a:bodyPr wrap="square"/>
                    <a:lstStyle/>
                    <a:p>
                      <a:pPr algn="r"/>
                      <a:r>
                        <a:rPr sz="1300" b="1">
                          <a:solidFill>
                            <a:srgbClr val="1F2937"/>
                          </a:solidFill>
                          <a:latin typeface="Calibri"/>
                        </a:rPr>
                        <a:t>dev</a:t>
                      </a:r>
                    </a:p>
                  </a:txBody>
                  <a:tcPr marL="54864" marR="54864" marT="18288" marB="18288">
                    <a:solidFill>
                      <a:srgbClr val="EEF2F6"/>
                    </a:solidFill>
                  </a:tcPr>
                </a:tc>
                <a:tc>
                  <a:txBody>
                    <a:bodyPr wrap="square"/>
                    <a:lstStyle/>
                    <a:p>
                      <a:pPr algn="r"/>
                      <a:r>
                        <a:rPr sz="1300" b="1">
                          <a:solidFill>
                            <a:srgbClr val="1F2937"/>
                          </a:solidFill>
                          <a:latin typeface="Calibri"/>
                        </a:rPr>
                        <a:t>test</a:t>
                      </a:r>
                    </a:p>
                  </a:txBody>
                  <a:tcPr marL="54864" marR="54864" marT="18288" marB="18288">
                    <a:solidFill>
                      <a:srgbClr val="EEF2F6"/>
                    </a:solidFill>
                  </a:tcPr>
                </a:tc>
                <a:tc>
                  <a:txBody>
                    <a:bodyPr wrap="square"/>
                    <a:lstStyle/>
                    <a:p>
                      <a:pPr algn="r"/>
                      <a:r>
                        <a:rPr sz="1300" b="1">
                          <a:solidFill>
                            <a:srgbClr val="1F2937"/>
                          </a:solidFill>
                          <a:latin typeface="Calibri"/>
                        </a:rPr>
                        <a:t>pooled</a:t>
                      </a:r>
                    </a:p>
                  </a:txBody>
                  <a:tcPr marL="54864" marR="54864" marT="18288" marB="18288">
                    <a:solidFill>
                      <a:srgbClr val="EEF2F6"/>
                    </a:solidFill>
                  </a:tcPr>
                </a:tc>
              </a:tr>
              <a:tr h="329184">
                <a:tc>
                  <a:txBody>
                    <a:bodyPr wrap="square"/>
                    <a:lstStyle/>
                    <a:p>
                      <a:pPr algn="l"/>
                      <a:r>
                        <a:rPr sz="1300" b="0">
                          <a:solidFill>
                            <a:srgbClr val="1F2937"/>
                          </a:solidFill>
                          <a:latin typeface="Calibri"/>
                        </a:rPr>
                        <a:t>Released</a:t>
                      </a:r>
                    </a:p>
                  </a:txBody>
                  <a:tcPr marL="54864" marR="54864" marT="18288" marB="18288">
                    <a:solidFill>
                      <a:srgbClr val="FFFFFF"/>
                    </a:solidFill>
                  </a:tcPr>
                </a:tc>
                <a:tc>
                  <a:txBody>
                    <a:bodyPr wrap="square"/>
                    <a:lstStyle/>
                    <a:p>
                      <a:pPr algn="r"/>
                      <a:r>
                        <a:rPr sz="1300" b="0">
                          <a:solidFill>
                            <a:srgbClr val="1F2937"/>
                          </a:solidFill>
                          <a:latin typeface="Calibri"/>
                        </a:rPr>
                        <a:t>66.2%</a:t>
                      </a:r>
                    </a:p>
                  </a:txBody>
                  <a:tcPr marL="54864" marR="54864" marT="18288" marB="18288">
                    <a:solidFill>
                      <a:srgbClr val="FFFFFF"/>
                    </a:solidFill>
                  </a:tcPr>
                </a:tc>
                <a:tc>
                  <a:txBody>
                    <a:bodyPr wrap="square"/>
                    <a:lstStyle/>
                    <a:p>
                      <a:pPr algn="r"/>
                      <a:r>
                        <a:rPr sz="1300" b="0">
                          <a:solidFill>
                            <a:srgbClr val="1F2937"/>
                          </a:solidFill>
                          <a:latin typeface="Calibri"/>
                        </a:rPr>
                        <a:t>67.0%</a:t>
                      </a:r>
                    </a:p>
                  </a:txBody>
                  <a:tcPr marL="54864" marR="54864" marT="18288" marB="18288">
                    <a:solidFill>
                      <a:srgbClr val="FFFFFF"/>
                    </a:solidFill>
                  </a:tcPr>
                </a:tc>
                <a:tc>
                  <a:txBody>
                    <a:bodyPr wrap="square"/>
                    <a:lstStyle/>
                    <a:p>
                      <a:pPr algn="r"/>
                      <a:r>
                        <a:rPr sz="1300" b="0">
                          <a:solidFill>
                            <a:srgbClr val="1F2937"/>
                          </a:solidFill>
                          <a:latin typeface="Calibri"/>
                        </a:rPr>
                        <a:t>66.5%</a:t>
                      </a:r>
                    </a:p>
                  </a:txBody>
                  <a:tcPr marL="54864" marR="54864" marT="18288" marB="18288">
                    <a:solidFill>
                      <a:srgbClr val="FFFFFF"/>
                    </a:solidFill>
                  </a:tcPr>
                </a:tc>
              </a:tr>
              <a:tr h="329184">
                <a:tc>
                  <a:txBody>
                    <a:bodyPr wrap="square"/>
                    <a:lstStyle/>
                    <a:p>
                      <a:pPr algn="l"/>
                      <a:r>
                        <a:rPr sz="1300" b="0">
                          <a:solidFill>
                            <a:srgbClr val="1F2937"/>
                          </a:solidFill>
                          <a:latin typeface="Calibri"/>
                        </a:rPr>
                        <a:t>Video only</a:t>
                      </a:r>
                    </a:p>
                  </a:txBody>
                  <a:tcPr marL="54864" marR="54864" marT="18288" marB="18288">
                    <a:solidFill>
                      <a:srgbClr val="FFFFFF"/>
                    </a:solidFill>
                  </a:tcPr>
                </a:tc>
                <a:tc>
                  <a:txBody>
                    <a:bodyPr wrap="square"/>
                    <a:lstStyle/>
                    <a:p>
                      <a:pPr algn="r"/>
                      <a:r>
                        <a:rPr sz="1300" b="0">
                          <a:solidFill>
                            <a:srgbClr val="1F2937"/>
                          </a:solidFill>
                          <a:latin typeface="Calibri"/>
                        </a:rPr>
                        <a:t>82.4%</a:t>
                      </a:r>
                    </a:p>
                  </a:txBody>
                  <a:tcPr marL="54864" marR="54864" marT="18288" marB="18288">
                    <a:solidFill>
                      <a:srgbClr val="FFFFFF"/>
                    </a:solidFill>
                  </a:tcPr>
                </a:tc>
                <a:tc>
                  <a:txBody>
                    <a:bodyPr wrap="square"/>
                    <a:lstStyle/>
                    <a:p>
                      <a:pPr algn="r"/>
                      <a:r>
                        <a:rPr sz="1300" b="0">
                          <a:solidFill>
                            <a:srgbClr val="1F2937"/>
                          </a:solidFill>
                          <a:latin typeface="Calibri"/>
                        </a:rPr>
                        <a:t>69.6%</a:t>
                      </a:r>
                    </a:p>
                  </a:txBody>
                  <a:tcPr marL="54864" marR="54864" marT="18288" marB="18288">
                    <a:solidFill>
                      <a:srgbClr val="FFFFFF"/>
                    </a:solidFill>
                  </a:tcPr>
                </a:tc>
                <a:tc>
                  <a:txBody>
                    <a:bodyPr wrap="square"/>
                    <a:lstStyle/>
                    <a:p>
                      <a:pPr algn="r"/>
                      <a:r>
                        <a:rPr sz="1300" b="0">
                          <a:solidFill>
                            <a:srgbClr val="1F2937"/>
                          </a:solidFill>
                          <a:latin typeface="Calibri"/>
                        </a:rPr>
                        <a:t>76.5%</a:t>
                      </a:r>
                    </a:p>
                  </a:txBody>
                  <a:tcPr marL="54864" marR="54864" marT="18288" marB="18288">
                    <a:solidFill>
                      <a:srgbClr val="FFFFFF"/>
                    </a:solidFill>
                  </a:tcPr>
                </a:tc>
              </a:tr>
              <a:tr h="329184">
                <a:tc>
                  <a:txBody>
                    <a:bodyPr wrap="square"/>
                    <a:lstStyle/>
                    <a:p>
                      <a:pPr algn="l"/>
                      <a:r>
                        <a:rPr sz="1300" b="0">
                          <a:solidFill>
                            <a:srgbClr val="1F2937"/>
                          </a:solidFill>
                          <a:latin typeface="Calibri"/>
                        </a:rPr>
                        <a:t>Tactile</a:t>
                      </a:r>
                    </a:p>
                  </a:txBody>
                  <a:tcPr marL="54864" marR="54864" marT="18288" marB="18288">
                    <a:solidFill>
                      <a:srgbClr val="FFFFFF"/>
                    </a:solidFill>
                  </a:tcPr>
                </a:tc>
                <a:tc>
                  <a:txBody>
                    <a:bodyPr wrap="square"/>
                    <a:lstStyle/>
                    <a:p>
                      <a:pPr algn="r"/>
                      <a:r>
                        <a:rPr sz="1300" b="0">
                          <a:solidFill>
                            <a:srgbClr val="1F2937"/>
                          </a:solidFill>
                          <a:latin typeface="Calibri"/>
                        </a:rPr>
                        <a:t>85.3%</a:t>
                      </a:r>
                    </a:p>
                  </a:txBody>
                  <a:tcPr marL="54864" marR="54864" marT="18288" marB="18288">
                    <a:solidFill>
                      <a:srgbClr val="FFFFFF"/>
                    </a:solidFill>
                  </a:tcPr>
                </a:tc>
                <a:tc>
                  <a:txBody>
                    <a:bodyPr wrap="square"/>
                    <a:lstStyle/>
                    <a:p>
                      <a:pPr algn="r"/>
                      <a:r>
                        <a:rPr sz="1300" b="0">
                          <a:solidFill>
                            <a:srgbClr val="1F2937"/>
                          </a:solidFill>
                          <a:latin typeface="Calibri"/>
                        </a:rPr>
                        <a:t>72.2%</a:t>
                      </a:r>
                    </a:p>
                  </a:txBody>
                  <a:tcPr marL="54864" marR="54864" marT="18288" marB="18288">
                    <a:solidFill>
                      <a:srgbClr val="FFFFFF"/>
                    </a:solidFill>
                  </a:tcPr>
                </a:tc>
                <a:tc>
                  <a:txBody>
                    <a:bodyPr wrap="square"/>
                    <a:lstStyle/>
                    <a:p>
                      <a:pPr algn="r"/>
                      <a:r>
                        <a:rPr sz="1300" b="0">
                          <a:solidFill>
                            <a:srgbClr val="1F2937"/>
                          </a:solidFill>
                          <a:latin typeface="Calibri"/>
                        </a:rPr>
                        <a:t>79.3%</a:t>
                      </a:r>
                    </a:p>
                  </a:txBody>
                  <a:tcPr marL="54864" marR="54864" marT="18288" marB="18288">
                    <a:solidFill>
                      <a:srgbClr val="FFFFFF"/>
                    </a:solidFill>
                  </a:tcPr>
                </a:tc>
              </a:tr>
            </a:tbl>
          </a:graphicData>
        </a:graphic>
      </p:graphicFrame>
      <p:sp>
        <p:nvSpPr>
          <p:cNvPr id="8" name="text MAE on dev (mean |sc"/>
          <p:cNvSpPr txBox="1"/>
          <p:nvPr/>
        </p:nvSpPr>
        <p:spPr>
          <a:xfrm>
            <a:off x="8138160" y="3291840"/>
            <a:ext cx="3566160" cy="822960"/>
          </a:xfrm>
          <a:prstGeom prst="rect">
            <a:avLst/>
          </a:prstGeom>
          <a:noFill/>
        </p:spPr>
        <p:txBody>
          <a:bodyPr wrap="square" lIns="0" rIns="0" tIns="0" bIns="0" anchor="t">
            <a:spAutoFit/>
          </a:bodyPr>
          <a:lstStyle/>
          <a:p>
            <a:pPr algn="l"/>
            <a:r>
              <a:rPr sz="1300" b="0" i="0">
                <a:solidFill>
                  <a:srgbClr val="1F2937"/>
                </a:solidFill>
                <a:latin typeface="Calibri"/>
              </a:rPr>
              <a:t>MAE on dev (mean |score − truth| on the 1 to 5 scale, times 100): 150 released, 71 video only, 53 tactile.</a:t>
            </a:r>
          </a:p>
        </p:txBody>
      </p:sp>
      <p:sp>
        <p:nvSpPr>
          <p:cNvPr id="9" name="text 251 clips over 32 ob"/>
          <p:cNvSpPr txBox="1"/>
          <p:nvPr/>
        </p:nvSpPr>
        <p:spPr>
          <a:xfrm>
            <a:off x="8138160" y="4114800"/>
            <a:ext cx="3566160" cy="1828800"/>
          </a:xfrm>
          <a:prstGeom prst="rect">
            <a:avLst/>
          </a:prstGeom>
          <a:noFill/>
        </p:spPr>
        <p:txBody>
          <a:bodyPr wrap="square" lIns="0" rIns="0" tIns="0" bIns="0" anchor="t">
            <a:spAutoFit/>
          </a:bodyPr>
          <a:lstStyle/>
          <a:p>
            <a:pPr algn="l"/>
            <a:r>
              <a:rPr sz="1300" b="0" i="0">
                <a:solidFill>
                  <a:srgbClr val="6B7280"/>
                </a:solidFill>
                <a:latin typeface="Calibri"/>
              </a:rPr>
              <a:t>251 clips over 32 objects never seen in training. Pooled: +12.8 accuracy points and +0.27 AUROC over released FLORA; +2.8 points and +0.043 AUROC over the matched video-only fine-tune.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8"/>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The ranking gain over the video-only fine-tune is significant; the accuracy gain is not</a:t>
            </a:r>
          </a:p>
        </p:txBody>
      </p:sp>
      <p:sp>
        <p:nvSpPr>
          <p:cNvPr id="5" name="text +0.043"/>
          <p:cNvSpPr txBox="1"/>
          <p:nvPr/>
        </p:nvSpPr>
        <p:spPr>
          <a:xfrm>
            <a:off x="548640" y="1463040"/>
            <a:ext cx="3291840" cy="822960"/>
          </a:xfrm>
          <a:prstGeom prst="rect">
            <a:avLst/>
          </a:prstGeom>
          <a:noFill/>
        </p:spPr>
        <p:txBody>
          <a:bodyPr wrap="square" lIns="0" rIns="0" tIns="0" bIns="0" anchor="b">
            <a:spAutoFit/>
          </a:bodyPr>
          <a:lstStyle/>
          <a:p>
            <a:pPr algn="l"/>
            <a:r>
              <a:rPr sz="4800" b="1" i="0">
                <a:solidFill>
                  <a:srgbClr val="2A6FB0"/>
                </a:solidFill>
                <a:latin typeface="Cambria"/>
              </a:rPr>
              <a:t>+0.043</a:t>
            </a:r>
          </a:p>
        </p:txBody>
      </p:sp>
      <p:sp>
        <p:nvSpPr>
          <p:cNvPr id="6" name="text AUROC, tactile minus"/>
          <p:cNvSpPr txBox="1"/>
          <p:nvPr/>
        </p:nvSpPr>
        <p:spPr>
          <a:xfrm>
            <a:off x="548640" y="2331720"/>
            <a:ext cx="3291840" cy="640080"/>
          </a:xfrm>
          <a:prstGeom prst="rect">
            <a:avLst/>
          </a:prstGeom>
          <a:noFill/>
        </p:spPr>
        <p:txBody>
          <a:bodyPr wrap="square" lIns="0" rIns="0" tIns="0" bIns="0" anchor="t">
            <a:spAutoFit/>
          </a:bodyPr>
          <a:lstStyle/>
          <a:p>
            <a:pPr algn="l"/>
            <a:r>
              <a:rPr sz="1300" b="0" i="0">
                <a:solidFill>
                  <a:srgbClr val="6B7280"/>
                </a:solidFill>
                <a:latin typeface="Calibri"/>
              </a:rPr>
              <a:t>AUROC, tactile minus video-only, pooled over 251 clips</a:t>
            </a:r>
          </a:p>
        </p:txBody>
      </p:sp>
      <p:sp>
        <p:nvSpPr>
          <p:cNvPr id="7" name="text +0.001 to +0.080"/>
          <p:cNvSpPr txBox="1"/>
          <p:nvPr/>
        </p:nvSpPr>
        <p:spPr>
          <a:xfrm>
            <a:off x="4114800" y="1463040"/>
            <a:ext cx="4023360" cy="822960"/>
          </a:xfrm>
          <a:prstGeom prst="rect">
            <a:avLst/>
          </a:prstGeom>
          <a:noFill/>
        </p:spPr>
        <p:txBody>
          <a:bodyPr wrap="square" lIns="0" rIns="0" tIns="0" bIns="0" anchor="b">
            <a:spAutoFit/>
          </a:bodyPr>
          <a:lstStyle/>
          <a:p>
            <a:pPr algn="l"/>
            <a:r>
              <a:rPr sz="3600" b="1" i="0">
                <a:solidFill>
                  <a:srgbClr val="2A6FB0"/>
                </a:solidFill>
                <a:latin typeface="Cambria"/>
              </a:rPr>
              <a:t>+0.001 to +0.080</a:t>
            </a:r>
          </a:p>
        </p:txBody>
      </p:sp>
      <p:sp>
        <p:nvSpPr>
          <p:cNvPr id="8" name="text object-level bootstr"/>
          <p:cNvSpPr txBox="1"/>
          <p:nvPr/>
        </p:nvSpPr>
        <p:spPr>
          <a:xfrm>
            <a:off x="4114800" y="2331720"/>
            <a:ext cx="4023360" cy="640080"/>
          </a:xfrm>
          <a:prstGeom prst="rect">
            <a:avLst/>
          </a:prstGeom>
          <a:noFill/>
        </p:spPr>
        <p:txBody>
          <a:bodyPr wrap="square" lIns="0" rIns="0" tIns="0" bIns="0" anchor="t">
            <a:spAutoFit/>
          </a:bodyPr>
          <a:lstStyle/>
          <a:p>
            <a:pPr algn="l"/>
            <a:r>
              <a:rPr sz="1300" b="0" i="0">
                <a:solidFill>
                  <a:srgbClr val="6B7280"/>
                </a:solidFill>
                <a:latin typeface="Calibri"/>
              </a:rPr>
              <a:t>object-level bootstrap 95% interval, p about 0.02</a:t>
            </a:r>
          </a:p>
        </p:txBody>
      </p:sp>
      <p:sp>
        <p:nvSpPr>
          <p:cNvPr id="9" name="text 26 vs 19"/>
          <p:cNvSpPr txBox="1"/>
          <p:nvPr/>
        </p:nvSpPr>
        <p:spPr>
          <a:xfrm>
            <a:off x="8412480" y="1463040"/>
            <a:ext cx="3291840" cy="822960"/>
          </a:xfrm>
          <a:prstGeom prst="rect">
            <a:avLst/>
          </a:prstGeom>
          <a:noFill/>
        </p:spPr>
        <p:txBody>
          <a:bodyPr wrap="square" lIns="0" rIns="0" tIns="0" bIns="0" anchor="b">
            <a:spAutoFit/>
          </a:bodyPr>
          <a:lstStyle/>
          <a:p>
            <a:pPr algn="l"/>
            <a:r>
              <a:rPr sz="4800" b="1" i="0">
                <a:solidFill>
                  <a:srgbClr val="1F2937"/>
                </a:solidFill>
                <a:latin typeface="Cambria"/>
              </a:rPr>
              <a:t>26 vs 19</a:t>
            </a:r>
          </a:p>
        </p:txBody>
      </p:sp>
      <p:sp>
        <p:nvSpPr>
          <p:cNvPr id="10" name="text clips fixed vs clips"/>
          <p:cNvSpPr txBox="1"/>
          <p:nvPr/>
        </p:nvSpPr>
        <p:spPr>
          <a:xfrm>
            <a:off x="8412480" y="2331720"/>
            <a:ext cx="3291840" cy="640080"/>
          </a:xfrm>
          <a:prstGeom prst="rect">
            <a:avLst/>
          </a:prstGeom>
          <a:noFill/>
        </p:spPr>
        <p:txBody>
          <a:bodyPr wrap="square" lIns="0" rIns="0" tIns="0" bIns="0" anchor="t">
            <a:spAutoFit/>
          </a:bodyPr>
          <a:lstStyle/>
          <a:p>
            <a:pPr algn="l"/>
            <a:r>
              <a:rPr sz="1300" b="0" i="0">
                <a:solidFill>
                  <a:srgbClr val="6B7280"/>
                </a:solidFill>
                <a:latin typeface="Calibri"/>
              </a:rPr>
              <a:t>clips fixed vs clips broken relative to the video-only model</a:t>
            </a:r>
          </a:p>
        </p:txBody>
      </p:sp>
      <p:sp>
        <p:nvSpPr>
          <p:cNvPr id="11" name="card"/>
          <p:cNvSpPr/>
          <p:nvPr/>
        </p:nvSpPr>
        <p:spPr>
          <a:xfrm>
            <a:off x="548640" y="3566160"/>
            <a:ext cx="5394960" cy="23774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er split"/>
          <p:cNvSpPr txBox="1"/>
          <p:nvPr/>
        </p:nvSpPr>
        <p:spPr>
          <a:xfrm>
            <a:off x="777240" y="3703320"/>
            <a:ext cx="4937760" cy="365760"/>
          </a:xfrm>
          <a:prstGeom prst="rect">
            <a:avLst/>
          </a:prstGeom>
          <a:noFill/>
        </p:spPr>
        <p:txBody>
          <a:bodyPr wrap="square" lIns="0" rIns="0" tIns="0" bIns="0" anchor="t">
            <a:spAutoFit/>
          </a:bodyPr>
          <a:lstStyle/>
          <a:p>
            <a:pPr algn="l"/>
            <a:r>
              <a:rPr sz="1400" b="1" i="0">
                <a:solidFill>
                  <a:srgbClr val="6B7280"/>
                </a:solidFill>
                <a:latin typeface="Calibri"/>
              </a:rPr>
              <a:t>Per split</a:t>
            </a:r>
          </a:p>
        </p:txBody>
      </p:sp>
      <p:sp>
        <p:nvSpPr>
          <p:cNvPr id="13" name="bullets"/>
          <p:cNvSpPr txBox="1"/>
          <p:nvPr/>
        </p:nvSpPr>
        <p:spPr>
          <a:xfrm>
            <a:off x="777240" y="4114800"/>
            <a:ext cx="4937760" cy="1737360"/>
          </a:xfrm>
          <a:prstGeom prst="rect">
            <a:avLst/>
          </a:prstGeom>
          <a:noFill/>
        </p:spPr>
        <p:txBody>
          <a:bodyPr wrap="square" lIns="0" rIns="0" tIns="0" bIns="0">
            <a:spAutoFit/>
          </a:bodyPr>
          <a:lstStyle/>
          <a:p>
            <a:pPr>
              <a:spcAft>
                <a:spcPts val="600"/>
              </a:spcAft>
            </a:pPr>
            <a:r>
              <a:rPr sz="1400">
                <a:solidFill>
                  <a:srgbClr val="2A6FB0"/>
                </a:solidFill>
                <a:latin typeface="Calibri"/>
              </a:rPr>
              <a:t>•  </a:t>
            </a:r>
            <a:r>
              <a:rPr sz="1400">
                <a:solidFill>
                  <a:srgbClr val="1F2937"/>
                </a:solidFill>
                <a:latin typeface="Calibri"/>
              </a:rPr>
              <a:t>dev: +0.026 AUROC (not significant); 12 wins, 8 losses</a:t>
            </a:r>
          </a:p>
          <a:p>
            <a:pPr>
              <a:spcAft>
                <a:spcPts val="600"/>
              </a:spcAft>
            </a:pPr>
            <a:r>
              <a:rPr sz="1400">
                <a:solidFill>
                  <a:srgbClr val="2A6FB0"/>
                </a:solidFill>
                <a:latin typeface="Calibri"/>
              </a:rPr>
              <a:t>•  </a:t>
            </a:r>
            <a:r>
              <a:rPr sz="1400">
                <a:solidFill>
                  <a:srgbClr val="1F2937"/>
                </a:solidFill>
                <a:latin typeface="Calibri"/>
              </a:rPr>
              <a:t>test: +0.067 AUROC (p about 0.04); 14 wins, 11 losses</a:t>
            </a:r>
          </a:p>
          <a:p>
            <a:pPr>
              <a:spcAft>
                <a:spcPts val="600"/>
              </a:spcAft>
            </a:pPr>
            <a:r>
              <a:rPr sz="1400">
                <a:solidFill>
                  <a:srgbClr val="2A6FB0"/>
                </a:solidFill>
                <a:latin typeface="Calibri"/>
              </a:rPr>
              <a:t>•  </a:t>
            </a:r>
            <a:r>
              <a:rPr sz="1400">
                <a:solidFill>
                  <a:srgbClr val="1F2937"/>
                </a:solidFill>
                <a:latin typeface="Calibri"/>
              </a:rPr>
              <a:t>accuracy +2.8 points overall, exact McNemar p = 0.37</a:t>
            </a:r>
          </a:p>
        </p:txBody>
      </p:sp>
      <p:sp>
        <p:nvSpPr>
          <p:cNvPr id="14" name="card"/>
          <p:cNvSpPr/>
          <p:nvPr/>
        </p:nvSpPr>
        <p:spPr>
          <a:xfrm>
            <a:off x="6217920" y="3566160"/>
            <a:ext cx="5394960" cy="23774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Against released FLO"/>
          <p:cNvSpPr txBox="1"/>
          <p:nvPr/>
        </p:nvSpPr>
        <p:spPr>
          <a:xfrm>
            <a:off x="6446520" y="3703320"/>
            <a:ext cx="4937760" cy="365760"/>
          </a:xfrm>
          <a:prstGeom prst="rect">
            <a:avLst/>
          </a:prstGeom>
          <a:noFill/>
        </p:spPr>
        <p:txBody>
          <a:bodyPr wrap="square" lIns="0" rIns="0" tIns="0" bIns="0" anchor="t">
            <a:spAutoFit/>
          </a:bodyPr>
          <a:lstStyle/>
          <a:p>
            <a:pPr algn="l"/>
            <a:r>
              <a:rPr sz="1400" b="1" i="0">
                <a:solidFill>
                  <a:srgbClr val="6B7280"/>
                </a:solidFill>
                <a:latin typeface="Calibri"/>
              </a:rPr>
              <a:t>Against released FLORA</a:t>
            </a:r>
          </a:p>
        </p:txBody>
      </p:sp>
      <p:sp>
        <p:nvSpPr>
          <p:cNvPr id="16" name="bullets"/>
          <p:cNvSpPr txBox="1"/>
          <p:nvPr/>
        </p:nvSpPr>
        <p:spPr>
          <a:xfrm>
            <a:off x="6446520" y="4114800"/>
            <a:ext cx="4937760" cy="1737360"/>
          </a:xfrm>
          <a:prstGeom prst="rect">
            <a:avLst/>
          </a:prstGeom>
          <a:noFill/>
        </p:spPr>
        <p:txBody>
          <a:bodyPr wrap="square" lIns="0" rIns="0" tIns="0" bIns="0">
            <a:spAutoFit/>
          </a:bodyPr>
          <a:lstStyle/>
          <a:p>
            <a:pPr>
              <a:spcAft>
                <a:spcPts val="600"/>
              </a:spcAft>
            </a:pPr>
            <a:r>
              <a:rPr sz="1400">
                <a:solidFill>
                  <a:srgbClr val="2A6FB0"/>
                </a:solidFill>
                <a:latin typeface="Calibri"/>
              </a:rPr>
              <a:t>•  </a:t>
            </a:r>
            <a:r>
              <a:rPr sz="1400">
                <a:solidFill>
                  <a:srgbClr val="1F2937"/>
                </a:solidFill>
                <a:latin typeface="Calibri"/>
              </a:rPr>
              <a:t>+12.8 accuracy points and +0.27 AUROC pooled</a:t>
            </a:r>
          </a:p>
          <a:p>
            <a:pPr>
              <a:spcAft>
                <a:spcPts val="600"/>
              </a:spcAft>
            </a:pPr>
            <a:r>
              <a:rPr sz="1400">
                <a:solidFill>
                  <a:srgbClr val="2A6FB0"/>
                </a:solidFill>
                <a:latin typeface="Calibri"/>
              </a:rPr>
              <a:t>•  </a:t>
            </a:r>
            <a:r>
              <a:rPr sz="1400">
                <a:solidFill>
                  <a:srgbClr val="1F2937"/>
                </a:solidFill>
                <a:latin typeface="Calibri"/>
              </a:rPr>
              <a:t>dev MAE 150 to 53 (mean absolute error on the 1 to 5 scale, times 100)</a:t>
            </a:r>
          </a:p>
          <a:p>
            <a:pPr>
              <a:spcAft>
                <a:spcPts val="600"/>
              </a:spcAft>
            </a:pPr>
            <a:r>
              <a:rPr sz="1400">
                <a:solidFill>
                  <a:srgbClr val="2A6FB0"/>
                </a:solidFill>
                <a:latin typeface="Calibri"/>
              </a:rPr>
              <a:t>•  </a:t>
            </a:r>
            <a:r>
              <a:rPr sz="1400">
                <a:solidFill>
                  <a:srgbClr val="1F2937"/>
                </a:solidFill>
                <a:latin typeface="Calibri"/>
              </a:rPr>
              <a:t>251 clips cannot certify a 3-point accuracy gain; about 1,000 would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9"/>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The model reads the force: shuffle it and the gain disappears</a:t>
            </a:r>
          </a:p>
        </p:txBody>
      </p:sp>
      <p:graphicFrame>
        <p:nvGraphicFramePr>
          <p:cNvPr id="5" name="Table 4"/>
          <p:cNvGraphicFramePr>
            <a:graphicFrameLocks noGrp="1"/>
          </p:cNvGraphicFramePr>
          <p:nvPr/>
        </p:nvGraphicFramePr>
        <p:xfrm>
          <a:off x="548640" y="1463040"/>
          <a:ext cx="6949440" cy="1920240"/>
        </p:xfrm>
        <a:graphic>
          <a:graphicData uri="http://schemas.openxmlformats.org/drawingml/2006/table">
            <a:tbl>
              <a:tblPr firstRow="1" bandRow="1">
                <a:tableStyleId>{5C22544A-7EE6-4342-B048-85BDC9FD1C3A}</a:tableStyleId>
              </a:tblPr>
              <a:tblGrid>
                <a:gridCol w="3657600"/>
                <a:gridCol w="1097280"/>
                <a:gridCol w="1097280"/>
                <a:gridCol w="1097280"/>
              </a:tblGrid>
              <a:tr h="384048">
                <a:tc>
                  <a:txBody>
                    <a:bodyPr wrap="square"/>
                    <a:lstStyle/>
                    <a:p>
                      <a:pPr algn="l"/>
                      <a:r>
                        <a:rPr sz="1400" b="1">
                          <a:solidFill>
                            <a:srgbClr val="1F2937"/>
                          </a:solidFill>
                          <a:latin typeface="Calibri"/>
                        </a:rPr>
                        <a:t>Tactile adapter on dev (136)</a:t>
                      </a:r>
                    </a:p>
                  </a:txBody>
                  <a:tcPr marL="54864" marR="54864" marT="18288" marB="18288">
                    <a:solidFill>
                      <a:srgbClr val="EEF2F6"/>
                    </a:solidFill>
                  </a:tcPr>
                </a:tc>
                <a:tc>
                  <a:txBody>
                    <a:bodyPr wrap="square"/>
                    <a:lstStyle/>
                    <a:p>
                      <a:pPr algn="r"/>
                      <a:r>
                        <a:rPr sz="1400" b="1">
                          <a:solidFill>
                            <a:srgbClr val="1F2937"/>
                          </a:solidFill>
                          <a:latin typeface="Calibri"/>
                        </a:rPr>
                        <a:t>Accuracy</a:t>
                      </a:r>
                    </a:p>
                  </a:txBody>
                  <a:tcPr marL="54864" marR="54864" marT="18288" marB="18288">
                    <a:solidFill>
                      <a:srgbClr val="EEF2F6"/>
                    </a:solidFill>
                  </a:tcPr>
                </a:tc>
                <a:tc>
                  <a:txBody>
                    <a:bodyPr wrap="square"/>
                    <a:lstStyle/>
                    <a:p>
                      <a:pPr algn="r"/>
                      <a:r>
                        <a:rPr sz="1400" b="1">
                          <a:solidFill>
                            <a:srgbClr val="1F2937"/>
                          </a:solidFill>
                          <a:latin typeface="Calibri"/>
                        </a:rPr>
                        <a:t>AUROC</a:t>
                      </a:r>
                    </a:p>
                  </a:txBody>
                  <a:tcPr marL="54864" marR="54864" marT="18288" marB="18288">
                    <a:solidFill>
                      <a:srgbClr val="EEF2F6"/>
                    </a:solidFill>
                  </a:tcPr>
                </a:tc>
                <a:tc>
                  <a:txBody>
                    <a:bodyPr wrap="square"/>
                    <a:lstStyle/>
                    <a:p>
                      <a:pPr algn="r"/>
                      <a:r>
                        <a:rPr sz="1400" b="1">
                          <a:solidFill>
                            <a:srgbClr val="1F2937"/>
                          </a:solidFill>
                          <a:latin typeface="Calibri"/>
                        </a:rPr>
                        <a:t>MAE ×100</a:t>
                      </a:r>
                    </a:p>
                  </a:txBody>
                  <a:tcPr marL="54864" marR="54864" marT="18288" marB="18288">
                    <a:solidFill>
                      <a:srgbClr val="EEF2F6"/>
                    </a:solidFill>
                  </a:tcPr>
                </a:tc>
              </a:tr>
              <a:tr h="384048">
                <a:tc>
                  <a:txBody>
                    <a:bodyPr wrap="square"/>
                    <a:lstStyle/>
                    <a:p>
                      <a:pPr algn="l"/>
                      <a:r>
                        <a:rPr sz="1400" b="0">
                          <a:solidFill>
                            <a:srgbClr val="1F2937"/>
                          </a:solidFill>
                          <a:latin typeface="Calibri"/>
                        </a:rPr>
                        <a:t>Real force</a:t>
                      </a:r>
                    </a:p>
                  </a:txBody>
                  <a:tcPr marL="54864" marR="54864" marT="18288" marB="18288">
                    <a:solidFill>
                      <a:srgbClr val="FFFFFF"/>
                    </a:solidFill>
                  </a:tcPr>
                </a:tc>
                <a:tc>
                  <a:txBody>
                    <a:bodyPr wrap="square"/>
                    <a:lstStyle/>
                    <a:p>
                      <a:pPr algn="r"/>
                      <a:r>
                        <a:rPr sz="1400" b="0">
                          <a:solidFill>
                            <a:srgbClr val="1F2937"/>
                          </a:solidFill>
                          <a:latin typeface="Calibri"/>
                        </a:rPr>
                        <a:t>85.3%</a:t>
                      </a:r>
                    </a:p>
                  </a:txBody>
                  <a:tcPr marL="54864" marR="54864" marT="18288" marB="18288">
                    <a:solidFill>
                      <a:srgbClr val="FFFFFF"/>
                    </a:solidFill>
                  </a:tcPr>
                </a:tc>
                <a:tc>
                  <a:txBody>
                    <a:bodyPr wrap="square"/>
                    <a:lstStyle/>
                    <a:p>
                      <a:pPr algn="r"/>
                      <a:r>
                        <a:rPr sz="1400" b="0">
                          <a:solidFill>
                            <a:srgbClr val="1F2937"/>
                          </a:solidFill>
                          <a:latin typeface="Calibri"/>
                        </a:rPr>
                        <a:t>0.926</a:t>
                      </a:r>
                    </a:p>
                  </a:txBody>
                  <a:tcPr marL="54864" marR="54864" marT="18288" marB="18288">
                    <a:solidFill>
                      <a:srgbClr val="FFFFFF"/>
                    </a:solidFill>
                  </a:tcPr>
                </a:tc>
                <a:tc>
                  <a:txBody>
                    <a:bodyPr wrap="square"/>
                    <a:lstStyle/>
                    <a:p>
                      <a:pPr algn="r"/>
                      <a:r>
                        <a:rPr sz="1400" b="0">
                          <a:solidFill>
                            <a:srgbClr val="1F2937"/>
                          </a:solidFill>
                          <a:latin typeface="Calibri"/>
                        </a:rPr>
                        <a:t>53</a:t>
                      </a:r>
                    </a:p>
                  </a:txBody>
                  <a:tcPr marL="54864" marR="54864" marT="18288" marB="18288">
                    <a:solidFill>
                      <a:srgbClr val="FFFFFF"/>
                    </a:solidFill>
                  </a:tcPr>
                </a:tc>
              </a:tr>
              <a:tr h="384048">
                <a:tc>
                  <a:txBody>
                    <a:bodyPr wrap="square"/>
                    <a:lstStyle/>
                    <a:p>
                      <a:pPr algn="l"/>
                      <a:r>
                        <a:rPr sz="1400" b="0">
                          <a:solidFill>
                            <a:srgbClr val="1F2937"/>
                          </a:solidFill>
                          <a:latin typeface="Calibri"/>
                        </a:rPr>
                        <a:t>Shuffled force (another clip's block)</a:t>
                      </a:r>
                    </a:p>
                  </a:txBody>
                  <a:tcPr marL="54864" marR="54864" marT="18288" marB="18288">
                    <a:solidFill>
                      <a:srgbClr val="FFFFFF"/>
                    </a:solidFill>
                  </a:tcPr>
                </a:tc>
                <a:tc>
                  <a:txBody>
                    <a:bodyPr wrap="square"/>
                    <a:lstStyle/>
                    <a:p>
                      <a:pPr algn="r"/>
                      <a:r>
                        <a:rPr sz="1400" b="0">
                          <a:solidFill>
                            <a:srgbClr val="1F2937"/>
                          </a:solidFill>
                          <a:latin typeface="Calibri"/>
                        </a:rPr>
                        <a:t>73.5%</a:t>
                      </a:r>
                    </a:p>
                  </a:txBody>
                  <a:tcPr marL="54864" marR="54864" marT="18288" marB="18288">
                    <a:solidFill>
                      <a:srgbClr val="FFFFFF"/>
                    </a:solidFill>
                  </a:tcPr>
                </a:tc>
                <a:tc>
                  <a:txBody>
                    <a:bodyPr wrap="square"/>
                    <a:lstStyle/>
                    <a:p>
                      <a:pPr algn="r"/>
                      <a:r>
                        <a:rPr sz="1400" b="0">
                          <a:solidFill>
                            <a:srgbClr val="1F2937"/>
                          </a:solidFill>
                          <a:latin typeface="Calibri"/>
                        </a:rPr>
                        <a:t>0.824</a:t>
                      </a:r>
                    </a:p>
                  </a:txBody>
                  <a:tcPr marL="54864" marR="54864" marT="18288" marB="18288">
                    <a:solidFill>
                      <a:srgbClr val="FFFFFF"/>
                    </a:solidFill>
                  </a:tcPr>
                </a:tc>
                <a:tc>
                  <a:txBody>
                    <a:bodyPr wrap="square"/>
                    <a:lstStyle/>
                    <a:p>
                      <a:pPr algn="r"/>
                      <a:r>
                        <a:rPr sz="1400" b="0">
                          <a:solidFill>
                            <a:srgbClr val="1F2937"/>
                          </a:solidFill>
                          <a:latin typeface="Calibri"/>
                        </a:rPr>
                        <a:t>109</a:t>
                      </a:r>
                    </a:p>
                  </a:txBody>
                  <a:tcPr marL="54864" marR="54864" marT="18288" marB="18288">
                    <a:solidFill>
                      <a:srgbClr val="FFFFFF"/>
                    </a:solidFill>
                  </a:tcPr>
                </a:tc>
              </a:tr>
              <a:tr h="384048">
                <a:tc>
                  <a:txBody>
                    <a:bodyPr wrap="square"/>
                    <a:lstStyle/>
                    <a:p>
                      <a:pPr algn="l"/>
                      <a:r>
                        <a:rPr sz="1400" b="0">
                          <a:solidFill>
                            <a:srgbClr val="1F2937"/>
                          </a:solidFill>
                          <a:latin typeface="Calibri"/>
                        </a:rPr>
                        <a:t>Video blanked (force only)</a:t>
                      </a:r>
                    </a:p>
                  </a:txBody>
                  <a:tcPr marL="54864" marR="54864" marT="18288" marB="18288">
                    <a:solidFill>
                      <a:srgbClr val="FFFFFF"/>
                    </a:solidFill>
                  </a:tcPr>
                </a:tc>
                <a:tc>
                  <a:txBody>
                    <a:bodyPr wrap="square"/>
                    <a:lstStyle/>
                    <a:p>
                      <a:pPr algn="r"/>
                      <a:r>
                        <a:rPr sz="1400" b="0">
                          <a:solidFill>
                            <a:srgbClr val="1F2937"/>
                          </a:solidFill>
                          <a:latin typeface="Calibri"/>
                        </a:rPr>
                        <a:t>53.7%</a:t>
                      </a:r>
                    </a:p>
                  </a:txBody>
                  <a:tcPr marL="54864" marR="54864" marT="18288" marB="18288">
                    <a:solidFill>
                      <a:srgbClr val="FFFFFF"/>
                    </a:solidFill>
                  </a:tcPr>
                </a:tc>
                <a:tc>
                  <a:txBody>
                    <a:bodyPr wrap="square"/>
                    <a:lstStyle/>
                    <a:p>
                      <a:pPr algn="r"/>
                      <a:r>
                        <a:rPr sz="1400" b="0">
                          <a:solidFill>
                            <a:srgbClr val="1F2937"/>
                          </a:solidFill>
                          <a:latin typeface="Calibri"/>
                        </a:rPr>
                        <a:t>0.775</a:t>
                      </a:r>
                    </a:p>
                  </a:txBody>
                  <a:tcPr marL="54864" marR="54864" marT="18288" marB="18288">
                    <a:solidFill>
                      <a:srgbClr val="FFFFFF"/>
                    </a:solidFill>
                  </a:tcPr>
                </a:tc>
                <a:tc>
                  <a:txBody>
                    <a:bodyPr wrap="square"/>
                    <a:lstStyle/>
                    <a:p>
                      <a:pPr algn="r"/>
                      <a:r>
                        <a:rPr sz="1400" b="0">
                          <a:solidFill>
                            <a:srgbClr val="1F2937"/>
                          </a:solidFill>
                          <a:latin typeface="Calibri"/>
                        </a:rPr>
                        <a:t>121</a:t>
                      </a:r>
                    </a:p>
                  </a:txBody>
                  <a:tcPr marL="54864" marR="54864" marT="18288" marB="18288">
                    <a:solidFill>
                      <a:srgbClr val="FFFFFF"/>
                    </a:solidFill>
                  </a:tcPr>
                </a:tc>
              </a:tr>
              <a:tr h="384048">
                <a:tc>
                  <a:txBody>
                    <a:bodyPr wrap="square"/>
                    <a:lstStyle/>
                    <a:p>
                      <a:pPr algn="l"/>
                      <a:r>
                        <a:rPr sz="1400" b="0">
                          <a:solidFill>
                            <a:srgbClr val="1F2937"/>
                          </a:solidFill>
                          <a:latin typeface="Calibri"/>
                        </a:rPr>
                        <a:t>Video-only fine-tune, for reference</a:t>
                      </a:r>
                    </a:p>
                  </a:txBody>
                  <a:tcPr marL="54864" marR="54864" marT="18288" marB="18288">
                    <a:solidFill>
                      <a:srgbClr val="FFFFFF"/>
                    </a:solidFill>
                  </a:tcPr>
                </a:tc>
                <a:tc>
                  <a:txBody>
                    <a:bodyPr wrap="square"/>
                    <a:lstStyle/>
                    <a:p>
                      <a:pPr algn="r"/>
                      <a:r>
                        <a:rPr sz="1400" b="0">
                          <a:solidFill>
                            <a:srgbClr val="1F2937"/>
                          </a:solidFill>
                          <a:latin typeface="Calibri"/>
                        </a:rPr>
                        <a:t>82.4%</a:t>
                      </a:r>
                    </a:p>
                  </a:txBody>
                  <a:tcPr marL="54864" marR="54864" marT="18288" marB="18288">
                    <a:solidFill>
                      <a:srgbClr val="FFFFFF"/>
                    </a:solidFill>
                  </a:tcPr>
                </a:tc>
                <a:tc>
                  <a:txBody>
                    <a:bodyPr wrap="square"/>
                    <a:lstStyle/>
                    <a:p>
                      <a:pPr algn="r"/>
                      <a:r>
                        <a:rPr sz="1400" b="0">
                          <a:solidFill>
                            <a:srgbClr val="1F2937"/>
                          </a:solidFill>
                          <a:latin typeface="Calibri"/>
                        </a:rPr>
                        <a:t>0.899</a:t>
                      </a:r>
                    </a:p>
                  </a:txBody>
                  <a:tcPr marL="54864" marR="54864" marT="18288" marB="18288">
                    <a:solidFill>
                      <a:srgbClr val="FFFFFF"/>
                    </a:solidFill>
                  </a:tcPr>
                </a:tc>
                <a:tc>
                  <a:txBody>
                    <a:bodyPr wrap="square"/>
                    <a:lstStyle/>
                    <a:p>
                      <a:pPr algn="r"/>
                      <a:r>
                        <a:rPr sz="1400" b="0">
                          <a:solidFill>
                            <a:srgbClr val="1F2937"/>
                          </a:solidFill>
                          <a:latin typeface="Calibri"/>
                        </a:rPr>
                        <a:t>71</a:t>
                      </a:r>
                    </a:p>
                  </a:txBody>
                  <a:tcPr marL="54864" marR="54864" marT="18288" marB="18288">
                    <a:solidFill>
                      <a:srgbClr val="FFFFFF"/>
                    </a:solidFill>
                  </a:tcPr>
                </a:tc>
              </a:tr>
            </a:tbl>
          </a:graphicData>
        </a:graphic>
      </p:graphicFrame>
      <p:sp>
        <p:nvSpPr>
          <p:cNvPr id="6" name="text 25 : 9"/>
          <p:cNvSpPr txBox="1"/>
          <p:nvPr/>
        </p:nvSpPr>
        <p:spPr>
          <a:xfrm>
            <a:off x="7955279" y="1371600"/>
            <a:ext cx="3657600" cy="822960"/>
          </a:xfrm>
          <a:prstGeom prst="rect">
            <a:avLst/>
          </a:prstGeom>
          <a:noFill/>
        </p:spPr>
        <p:txBody>
          <a:bodyPr wrap="square" lIns="0" rIns="0" tIns="0" bIns="0" anchor="b">
            <a:spAutoFit/>
          </a:bodyPr>
          <a:lstStyle/>
          <a:p>
            <a:pPr algn="l"/>
            <a:r>
              <a:rPr sz="4800" b="1" i="0">
                <a:solidFill>
                  <a:srgbClr val="D9480F"/>
                </a:solidFill>
                <a:latin typeface="Cambria"/>
              </a:rPr>
              <a:t>25 : 9</a:t>
            </a:r>
          </a:p>
        </p:txBody>
      </p:sp>
      <p:sp>
        <p:nvSpPr>
          <p:cNvPr id="7" name="text paired clips lost : "/>
          <p:cNvSpPr txBox="1"/>
          <p:nvPr/>
        </p:nvSpPr>
        <p:spPr>
          <a:xfrm>
            <a:off x="7955279" y="2240280"/>
            <a:ext cx="3657600" cy="640080"/>
          </a:xfrm>
          <a:prstGeom prst="rect">
            <a:avLst/>
          </a:prstGeom>
          <a:noFill/>
        </p:spPr>
        <p:txBody>
          <a:bodyPr wrap="square" lIns="0" rIns="0" tIns="0" bIns="0" anchor="t">
            <a:spAutoFit/>
          </a:bodyPr>
          <a:lstStyle/>
          <a:p>
            <a:pPr algn="l"/>
            <a:r>
              <a:rPr sz="1300" b="0" i="0">
                <a:solidFill>
                  <a:srgbClr val="6B7280"/>
                </a:solidFill>
                <a:latin typeface="Calibri"/>
              </a:rPr>
              <a:t>paired clips lost : won when the force is shuffled, p = 0.009</a:t>
            </a:r>
          </a:p>
        </p:txBody>
      </p:sp>
      <p:sp>
        <p:nvSpPr>
          <p:cNvPr id="8" name="card"/>
          <p:cNvSpPr/>
          <p:nvPr/>
        </p:nvSpPr>
        <p:spPr>
          <a:xfrm>
            <a:off x="548640" y="3840480"/>
            <a:ext cx="110642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llets"/>
          <p:cNvSpPr txBox="1"/>
          <p:nvPr/>
        </p:nvSpPr>
        <p:spPr>
          <a:xfrm>
            <a:off x="777240" y="4023360"/>
            <a:ext cx="10607040" cy="1828800"/>
          </a:xfrm>
          <a:prstGeom prst="rect">
            <a:avLst/>
          </a:prstGeom>
          <a:noFill/>
        </p:spPr>
        <p:txBody>
          <a:bodyPr wrap="square" lIns="0" rIns="0" tIns="0" bIns="0">
            <a:spAutoFit/>
          </a:bodyPr>
          <a:lstStyle/>
          <a:p>
            <a:pPr>
              <a:spcAft>
                <a:spcPts val="800"/>
              </a:spcAft>
            </a:pPr>
            <a:r>
              <a:rPr sz="1400">
                <a:solidFill>
                  <a:srgbClr val="2A6FB0"/>
                </a:solidFill>
                <a:latin typeface="Calibri"/>
              </a:rPr>
              <a:t>•  </a:t>
            </a:r>
            <a:r>
              <a:rPr sz="1400" b="1">
                <a:solidFill>
                  <a:srgbClr val="1F2937"/>
                </a:solidFill>
                <a:latin typeface="Calibri"/>
              </a:rPr>
              <a:t>Shuffling costs 12 points. </a:t>
            </a:r>
            <a:r>
              <a:rPr sz="1400">
                <a:solidFill>
                  <a:srgbClr val="1F2937"/>
                </a:solidFill>
                <a:latin typeface="Calibri"/>
              </a:rPr>
              <a:t>A gain that survived shuffling would not be a force gain; this one does not survive it.</a:t>
            </a:r>
          </a:p>
          <a:p>
            <a:pPr>
              <a:spcAft>
                <a:spcPts val="800"/>
              </a:spcAft>
            </a:pPr>
            <a:r>
              <a:rPr sz="1400">
                <a:solidFill>
                  <a:srgbClr val="2A6FB0"/>
                </a:solidFill>
                <a:latin typeface="Calibri"/>
              </a:rPr>
              <a:t>•  </a:t>
            </a:r>
            <a:r>
              <a:rPr sz="1400" b="1">
                <a:solidFill>
                  <a:srgbClr val="1F2937"/>
                </a:solidFill>
                <a:latin typeface="Calibri"/>
              </a:rPr>
              <a:t>Force alone is weak. </a:t>
            </a:r>
            <a:r>
              <a:rPr sz="1400">
                <a:solidFill>
                  <a:srgbClr val="1F2937"/>
                </a:solidFill>
                <a:latin typeface="Calibri"/>
              </a:rPr>
              <a:t>With the video blanked the model still ranks above chance (0.775) but calls almost everything a failure.</a:t>
            </a:r>
          </a:p>
          <a:p>
            <a:pPr>
              <a:spcAft>
                <a:spcPts val="800"/>
              </a:spcAft>
            </a:pPr>
            <a:r>
              <a:rPr sz="1400">
                <a:solidFill>
                  <a:srgbClr val="2A6FB0"/>
                </a:solidFill>
                <a:latin typeface="Calibri"/>
              </a:rPr>
              <a:t>•  </a:t>
            </a:r>
            <a:r>
              <a:rPr sz="1400" b="1">
                <a:solidFill>
                  <a:srgbClr val="1F2937"/>
                </a:solidFill>
                <a:latin typeface="Calibri"/>
              </a:rPr>
              <a:t>Both channels are used. </a:t>
            </a:r>
            <a:r>
              <a:rPr sz="1400">
                <a:solidFill>
                  <a:srgbClr val="1F2937"/>
                </a:solidFill>
                <a:latin typeface="Calibri"/>
              </a:rPr>
              <a:t>Neither video nor force alone reaches 0.926; the fine-tuned model combines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10"/>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The force settles the clips the video cannot call, and leaves the rest alone</a:t>
            </a:r>
          </a:p>
        </p:txBody>
      </p:sp>
      <p:graphicFrame>
        <p:nvGraphicFramePr>
          <p:cNvPr id="5" name="Table 4"/>
          <p:cNvGraphicFramePr>
            <a:graphicFrameLocks noGrp="1"/>
          </p:cNvGraphicFramePr>
          <p:nvPr/>
        </p:nvGraphicFramePr>
        <p:xfrm>
          <a:off x="548640" y="1463040"/>
          <a:ext cx="11064240" cy="1645920"/>
        </p:xfrm>
        <a:graphic>
          <a:graphicData uri="http://schemas.openxmlformats.org/drawingml/2006/table">
            <a:tbl>
              <a:tblPr firstRow="1" bandRow="1">
                <a:tableStyleId>{5C22544A-7EE6-4342-B048-85BDC9FD1C3A}</a:tableStyleId>
              </a:tblPr>
              <a:tblGrid>
                <a:gridCol w="6126480"/>
                <a:gridCol w="1645920"/>
                <a:gridCol w="1645920"/>
                <a:gridCol w="1645920"/>
              </a:tblGrid>
              <a:tr h="411480">
                <a:tc>
                  <a:txBody>
                    <a:bodyPr wrap="square"/>
                    <a:lstStyle/>
                    <a:p>
                      <a:pPr algn="l"/>
                      <a:r>
                        <a:rPr sz="1400" b="1">
                          <a:solidFill>
                            <a:srgbClr val="1F2937"/>
                          </a:solidFill>
                          <a:latin typeface="Calibri"/>
                        </a:rPr>
                        <a:t>Clips, split by the video-only model's confidence</a:t>
                      </a:r>
                    </a:p>
                  </a:txBody>
                  <a:tcPr marL="54864" marR="54864" marT="18288" marB="18288">
                    <a:solidFill>
                      <a:srgbClr val="EEF2F6"/>
                    </a:solidFill>
                  </a:tcPr>
                </a:tc>
                <a:tc>
                  <a:txBody>
                    <a:bodyPr wrap="square"/>
                    <a:lstStyle/>
                    <a:p>
                      <a:pPr algn="r"/>
                      <a:r>
                        <a:rPr sz="1400" b="1">
                          <a:solidFill>
                            <a:srgbClr val="1F2937"/>
                          </a:solidFill>
                          <a:latin typeface="Calibri"/>
                        </a:rPr>
                        <a:t>Video only</a:t>
                      </a:r>
                    </a:p>
                  </a:txBody>
                  <a:tcPr marL="54864" marR="54864" marT="18288" marB="18288">
                    <a:solidFill>
                      <a:srgbClr val="EEF2F6"/>
                    </a:solidFill>
                  </a:tcPr>
                </a:tc>
                <a:tc>
                  <a:txBody>
                    <a:bodyPr wrap="square"/>
                    <a:lstStyle/>
                    <a:p>
                      <a:pPr algn="r"/>
                      <a:r>
                        <a:rPr sz="1400" b="1">
                          <a:solidFill>
                            <a:srgbClr val="1F2937"/>
                          </a:solidFill>
                          <a:latin typeface="Calibri"/>
                        </a:rPr>
                        <a:t>Tactile</a:t>
                      </a:r>
                    </a:p>
                  </a:txBody>
                  <a:tcPr marL="54864" marR="54864" marT="18288" marB="18288">
                    <a:solidFill>
                      <a:srgbClr val="EEF2F6"/>
                    </a:solidFill>
                  </a:tcPr>
                </a:tc>
                <a:tc>
                  <a:txBody>
                    <a:bodyPr wrap="square"/>
                    <a:lstStyle/>
                    <a:p>
                      <a:pPr algn="r"/>
                      <a:r>
                        <a:rPr sz="1400" b="1">
                          <a:solidFill>
                            <a:srgbClr val="1F2937"/>
                          </a:solidFill>
                          <a:latin typeface="Calibri"/>
                        </a:rPr>
                        <a:t>Gain</a:t>
                      </a:r>
                    </a:p>
                  </a:txBody>
                  <a:tcPr marL="54864" marR="54864" marT="18288" marB="18288">
                    <a:solidFill>
                      <a:srgbClr val="EEF2F6"/>
                    </a:solidFill>
                  </a:tcPr>
                </a:tc>
              </a:tr>
              <a:tr h="411480">
                <a:tc>
                  <a:txBody>
                    <a:bodyPr wrap="square"/>
                    <a:lstStyle/>
                    <a:p>
                      <a:pPr algn="l"/>
                      <a:r>
                        <a:rPr sz="1400" b="0">
                          <a:solidFill>
                            <a:srgbClr val="1F2937"/>
                          </a:solidFill>
                          <a:latin typeface="Calibri"/>
                        </a:rPr>
                        <a:t>Uncertain: E[s] within 0.75 of the threshold (101 clips)</a:t>
                      </a:r>
                    </a:p>
                  </a:txBody>
                  <a:tcPr marL="54864" marR="54864" marT="18288" marB="18288">
                    <a:solidFill>
                      <a:srgbClr val="FFFFFF"/>
                    </a:solidFill>
                  </a:tcPr>
                </a:tc>
                <a:tc>
                  <a:txBody>
                    <a:bodyPr wrap="square"/>
                    <a:lstStyle/>
                    <a:p>
                      <a:pPr algn="r"/>
                      <a:r>
                        <a:rPr sz="1400" b="0">
                          <a:solidFill>
                            <a:srgbClr val="1F2937"/>
                          </a:solidFill>
                          <a:latin typeface="Calibri"/>
                        </a:rPr>
                        <a:t>66.3%</a:t>
                      </a:r>
                    </a:p>
                  </a:txBody>
                  <a:tcPr marL="54864" marR="54864" marT="18288" marB="18288">
                    <a:solidFill>
                      <a:srgbClr val="FFFFFF"/>
                    </a:solidFill>
                  </a:tcPr>
                </a:tc>
                <a:tc>
                  <a:txBody>
                    <a:bodyPr wrap="square"/>
                    <a:lstStyle/>
                    <a:p>
                      <a:pPr algn="r"/>
                      <a:r>
                        <a:rPr sz="1400" b="1">
                          <a:solidFill>
                            <a:srgbClr val="2A6FB0"/>
                          </a:solidFill>
                          <a:latin typeface="Calibri"/>
                        </a:rPr>
                        <a:t>72.3%</a:t>
                      </a:r>
                    </a:p>
                  </a:txBody>
                  <a:tcPr marL="54864" marR="54864" marT="18288" marB="18288">
                    <a:solidFill>
                      <a:srgbClr val="FFFFFF"/>
                    </a:solidFill>
                  </a:tcPr>
                </a:tc>
                <a:tc>
                  <a:txBody>
                    <a:bodyPr wrap="square"/>
                    <a:lstStyle/>
                    <a:p>
                      <a:pPr algn="r"/>
                      <a:r>
                        <a:rPr sz="1400" b="0">
                          <a:solidFill>
                            <a:srgbClr val="1F2937"/>
                          </a:solidFill>
                          <a:latin typeface="Calibri"/>
                        </a:rPr>
                        <a:t>+6.0</a:t>
                      </a:r>
                    </a:p>
                  </a:txBody>
                  <a:tcPr marL="54864" marR="54864" marT="18288" marB="18288">
                    <a:solidFill>
                      <a:srgbClr val="FFFFFF"/>
                    </a:solidFill>
                  </a:tcPr>
                </a:tc>
              </a:tr>
              <a:tr h="411480">
                <a:tc>
                  <a:txBody>
                    <a:bodyPr wrap="square"/>
                    <a:lstStyle/>
                    <a:p>
                      <a:pPr algn="l"/>
                      <a:r>
                        <a:rPr sz="1400" b="0">
                          <a:solidFill>
                            <a:srgbClr val="1F2937"/>
                          </a:solidFill>
                          <a:latin typeface="Calibri"/>
                        </a:rPr>
                        <a:t>Confident: the other 150 clips</a:t>
                      </a:r>
                    </a:p>
                  </a:txBody>
                  <a:tcPr marL="54864" marR="54864" marT="18288" marB="18288">
                    <a:solidFill>
                      <a:srgbClr val="FFFFFF"/>
                    </a:solidFill>
                  </a:tcPr>
                </a:tc>
                <a:tc>
                  <a:txBody>
                    <a:bodyPr wrap="square"/>
                    <a:lstStyle/>
                    <a:p>
                      <a:pPr algn="r"/>
                      <a:r>
                        <a:rPr sz="1400" b="0">
                          <a:solidFill>
                            <a:srgbClr val="1F2937"/>
                          </a:solidFill>
                          <a:latin typeface="Calibri"/>
                        </a:rPr>
                        <a:t>83.3%</a:t>
                      </a:r>
                    </a:p>
                  </a:txBody>
                  <a:tcPr marL="54864" marR="54864" marT="18288" marB="18288">
                    <a:solidFill>
                      <a:srgbClr val="FFFFFF"/>
                    </a:solidFill>
                  </a:tcPr>
                </a:tc>
                <a:tc>
                  <a:txBody>
                    <a:bodyPr wrap="square"/>
                    <a:lstStyle/>
                    <a:p>
                      <a:pPr algn="r"/>
                      <a:r>
                        <a:rPr sz="1400" b="1">
                          <a:solidFill>
                            <a:srgbClr val="2A6FB0"/>
                          </a:solidFill>
                          <a:latin typeface="Calibri"/>
                        </a:rPr>
                        <a:t>84.0%</a:t>
                      </a:r>
                    </a:p>
                  </a:txBody>
                  <a:tcPr marL="54864" marR="54864" marT="18288" marB="18288">
                    <a:solidFill>
                      <a:srgbClr val="FFFFFF"/>
                    </a:solidFill>
                  </a:tcPr>
                </a:tc>
                <a:tc>
                  <a:txBody>
                    <a:bodyPr wrap="square"/>
                    <a:lstStyle/>
                    <a:p>
                      <a:pPr algn="r"/>
                      <a:r>
                        <a:rPr sz="1400" b="0">
                          <a:solidFill>
                            <a:srgbClr val="1F2937"/>
                          </a:solidFill>
                          <a:latin typeface="Calibri"/>
                        </a:rPr>
                        <a:t>+0.7</a:t>
                      </a:r>
                    </a:p>
                  </a:txBody>
                  <a:tcPr marL="54864" marR="54864" marT="18288" marB="18288">
                    <a:solidFill>
                      <a:srgbClr val="FFFFFF"/>
                    </a:solidFill>
                  </a:tcPr>
                </a:tc>
              </a:tr>
              <a:tr h="411480">
                <a:tc>
                  <a:txBody>
                    <a:bodyPr wrap="square"/>
                    <a:lstStyle/>
                    <a:p>
                      <a:pPr algn="l"/>
                      <a:r>
                        <a:rPr sz="1400" b="0">
                          <a:solidFill>
                            <a:srgbClr val="1F2937"/>
                          </a:solidFill>
                          <a:latin typeface="Calibri"/>
                        </a:rPr>
                        <a:t>dev only, uncertain band (46 clips)</a:t>
                      </a:r>
                    </a:p>
                  </a:txBody>
                  <a:tcPr marL="54864" marR="54864" marT="18288" marB="18288">
                    <a:solidFill>
                      <a:srgbClr val="FFFFFF"/>
                    </a:solidFill>
                  </a:tcPr>
                </a:tc>
                <a:tc>
                  <a:txBody>
                    <a:bodyPr wrap="square"/>
                    <a:lstStyle/>
                    <a:p>
                      <a:pPr algn="r"/>
                      <a:r>
                        <a:rPr sz="1400" b="0">
                          <a:solidFill>
                            <a:srgbClr val="1F2937"/>
                          </a:solidFill>
                          <a:latin typeface="Calibri"/>
                        </a:rPr>
                        <a:t>71.7%</a:t>
                      </a:r>
                    </a:p>
                  </a:txBody>
                  <a:tcPr marL="54864" marR="54864" marT="18288" marB="18288">
                    <a:solidFill>
                      <a:srgbClr val="FFFFFF"/>
                    </a:solidFill>
                  </a:tcPr>
                </a:tc>
                <a:tc>
                  <a:txBody>
                    <a:bodyPr wrap="square"/>
                    <a:lstStyle/>
                    <a:p>
                      <a:pPr algn="r"/>
                      <a:r>
                        <a:rPr sz="1400" b="1">
                          <a:solidFill>
                            <a:srgbClr val="2A6FB0"/>
                          </a:solidFill>
                          <a:latin typeface="Calibri"/>
                        </a:rPr>
                        <a:t>82.6%</a:t>
                      </a:r>
                    </a:p>
                  </a:txBody>
                  <a:tcPr marL="54864" marR="54864" marT="18288" marB="18288">
                    <a:solidFill>
                      <a:srgbClr val="FFFFFF"/>
                    </a:solidFill>
                  </a:tcPr>
                </a:tc>
                <a:tc>
                  <a:txBody>
                    <a:bodyPr wrap="square"/>
                    <a:lstStyle/>
                    <a:p>
                      <a:pPr algn="r"/>
                      <a:r>
                        <a:rPr sz="1400" b="0">
                          <a:solidFill>
                            <a:srgbClr val="1F2937"/>
                          </a:solidFill>
                          <a:latin typeface="Calibri"/>
                        </a:rPr>
                        <a:t>+10.9</a:t>
                      </a:r>
                    </a:p>
                  </a:txBody>
                  <a:tcPr marL="54864" marR="54864" marT="18288" marB="18288">
                    <a:solidFill>
                      <a:srgbClr val="FFFFFF"/>
                    </a:solidFill>
                  </a:tcPr>
                </a:tc>
              </a:tr>
            </a:tbl>
          </a:graphicData>
        </a:graphic>
      </p:graphicFrame>
      <p:sp>
        <p:nvSpPr>
          <p:cNvPr id="6" name="card"/>
          <p:cNvSpPr/>
          <p:nvPr/>
        </p:nvSpPr>
        <p:spPr>
          <a:xfrm>
            <a:off x="548640" y="3657600"/>
            <a:ext cx="5394960" cy="22860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What the wins look l"/>
          <p:cNvSpPr txBox="1"/>
          <p:nvPr/>
        </p:nvSpPr>
        <p:spPr>
          <a:xfrm>
            <a:off x="777240" y="3794760"/>
            <a:ext cx="4937760" cy="365760"/>
          </a:xfrm>
          <a:prstGeom prst="rect">
            <a:avLst/>
          </a:prstGeom>
          <a:noFill/>
        </p:spPr>
        <p:txBody>
          <a:bodyPr wrap="square" lIns="0" rIns="0" tIns="0" bIns="0" anchor="t">
            <a:spAutoFit/>
          </a:bodyPr>
          <a:lstStyle/>
          <a:p>
            <a:pPr algn="l"/>
            <a:r>
              <a:rPr sz="1400" b="1" i="0">
                <a:solidFill>
                  <a:srgbClr val="6B7280"/>
                </a:solidFill>
                <a:latin typeface="Calibri"/>
              </a:rPr>
              <a:t>What the wins look like</a:t>
            </a:r>
          </a:p>
        </p:txBody>
      </p:sp>
      <p:sp>
        <p:nvSpPr>
          <p:cNvPr id="8" name="text The video-only model"/>
          <p:cNvSpPr txBox="1"/>
          <p:nvPr/>
        </p:nvSpPr>
        <p:spPr>
          <a:xfrm>
            <a:off x="777240" y="4160520"/>
            <a:ext cx="4937760" cy="1737360"/>
          </a:xfrm>
          <a:prstGeom prst="rect">
            <a:avLst/>
          </a:prstGeom>
          <a:noFill/>
        </p:spPr>
        <p:txBody>
          <a:bodyPr wrap="square" lIns="0" rIns="0" tIns="0" bIns="0" anchor="t">
            <a:spAutoFit/>
          </a:bodyPr>
          <a:lstStyle/>
          <a:p>
            <a:pPr algn="l"/>
            <a:r>
              <a:rPr sz="1300" b="0" i="0">
                <a:solidFill>
                  <a:srgbClr val="1F2937"/>
                </a:solidFill>
                <a:latin typeface="Calibri"/>
              </a:rPr>
              <a:t>The video-only model under-calls successes whose hold is visually unremarkable (long, steady contact above the median force) and over-calls failures where the hand closes convincingly but the force shows a weak grip, a re-grasp, or contact that ends early.</a:t>
            </a:r>
          </a:p>
        </p:txBody>
      </p:sp>
      <p:sp>
        <p:nvSpPr>
          <p:cNvPr id="9" name="card"/>
          <p:cNvSpPr/>
          <p:nvPr/>
        </p:nvSpPr>
        <p:spPr>
          <a:xfrm>
            <a:off x="6217920" y="3657600"/>
            <a:ext cx="5394960" cy="22860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Stacking check"/>
          <p:cNvSpPr txBox="1"/>
          <p:nvPr/>
        </p:nvSpPr>
        <p:spPr>
          <a:xfrm>
            <a:off x="6446520" y="3794760"/>
            <a:ext cx="4937760" cy="365760"/>
          </a:xfrm>
          <a:prstGeom prst="rect">
            <a:avLst/>
          </a:prstGeom>
          <a:noFill/>
        </p:spPr>
        <p:txBody>
          <a:bodyPr wrap="square" lIns="0" rIns="0" tIns="0" bIns="0" anchor="t">
            <a:spAutoFit/>
          </a:bodyPr>
          <a:lstStyle/>
          <a:p>
            <a:pPr algn="l"/>
            <a:r>
              <a:rPr sz="1400" b="1" i="0">
                <a:solidFill>
                  <a:srgbClr val="6B7280"/>
                </a:solidFill>
                <a:latin typeface="Calibri"/>
              </a:rPr>
              <a:t>Stacking check</a:t>
            </a:r>
          </a:p>
        </p:txBody>
      </p:sp>
      <p:sp>
        <p:nvSpPr>
          <p:cNvPr id="11" name="text A force-only classif"/>
          <p:cNvSpPr txBox="1"/>
          <p:nvPr/>
        </p:nvSpPr>
        <p:spPr>
          <a:xfrm>
            <a:off x="6446520" y="4160520"/>
            <a:ext cx="4937760" cy="1737360"/>
          </a:xfrm>
          <a:prstGeom prst="rect">
            <a:avLst/>
          </a:prstGeom>
          <a:noFill/>
        </p:spPr>
        <p:txBody>
          <a:bodyPr wrap="square" lIns="0" rIns="0" tIns="0" bIns="0" anchor="t">
            <a:spAutoFit/>
          </a:bodyPr>
          <a:lstStyle/>
          <a:p>
            <a:pPr algn="l"/>
            <a:r>
              <a:rPr sz="1300" b="0" i="0">
                <a:solidFill>
                  <a:srgbClr val="1F2937"/>
                </a:solidFill>
                <a:latin typeface="Calibri"/>
              </a:rPr>
              <a:t>A force-only classifier alone scores 76.5% / 0.777 on test, level with both VLMs on accuracy; a logistic stack of video score, tactile score and classifier reaches 88.2% / 0.928 on dev. The VLM, not the sensor, is the bottleneck.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11"/>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A win: standing frame #4, a success the camera scored 1.27</a:t>
            </a:r>
          </a:p>
        </p:txBody>
      </p:sp>
      <p:pic>
        <p:nvPicPr>
          <p:cNvPr id="5" name="standing frame poster" descr="test_standing_frame_4_success.png"/>
          <p:cNvPicPr>
            <a:picLocks noChangeAspect="1"/>
          </p:cNvPicPr>
          <p:nvPr/>
        </p:nvPicPr>
        <p:blipFill>
          <a:blip r:embed="rId2"/>
          <a:stretch>
            <a:fillRect/>
          </a:stretch>
        </p:blipFill>
        <p:spPr>
          <a:xfrm>
            <a:off x="548640" y="1371600"/>
            <a:ext cx="7680960" cy="4320540"/>
          </a:xfrm>
          <a:prstGeom prst="rect">
            <a:avLst/>
          </a:prstGeom>
        </p:spPr>
      </p:pic>
      <p:sp>
        <p:nvSpPr>
          <p:cNvPr id="6" name="card"/>
          <p:cNvSpPr/>
          <p:nvPr/>
        </p:nvSpPr>
        <p:spPr>
          <a:xfrm>
            <a:off x="8503920" y="1371600"/>
            <a:ext cx="3154680" cy="43434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HRDexDB test clip"/>
          <p:cNvSpPr txBox="1"/>
          <p:nvPr/>
        </p:nvSpPr>
        <p:spPr>
          <a:xfrm>
            <a:off x="8732520" y="1508760"/>
            <a:ext cx="2743200" cy="365760"/>
          </a:xfrm>
          <a:prstGeom prst="rect">
            <a:avLst/>
          </a:prstGeom>
          <a:noFill/>
        </p:spPr>
        <p:txBody>
          <a:bodyPr wrap="square" lIns="0" rIns="0" tIns="0" bIns="0" anchor="t">
            <a:spAutoFit/>
          </a:bodyPr>
          <a:lstStyle/>
          <a:p>
            <a:pPr algn="l"/>
            <a:r>
              <a:rPr sz="1300" b="1" i="0">
                <a:solidFill>
                  <a:srgbClr val="6B7280"/>
                </a:solidFill>
                <a:latin typeface="Calibri"/>
              </a:rPr>
              <a:t>HRDexDB test clip</a:t>
            </a:r>
          </a:p>
        </p:txBody>
      </p:sp>
      <p:sp>
        <p:nvSpPr>
          <p:cNvPr id="8" name="text 1.27"/>
          <p:cNvSpPr txBox="1"/>
          <p:nvPr/>
        </p:nvSpPr>
        <p:spPr>
          <a:xfrm>
            <a:off x="8732520" y="1874519"/>
            <a:ext cx="1280160" cy="640080"/>
          </a:xfrm>
          <a:prstGeom prst="rect">
            <a:avLst/>
          </a:prstGeom>
          <a:noFill/>
        </p:spPr>
        <p:txBody>
          <a:bodyPr wrap="square" lIns="0" rIns="0" tIns="0" bIns="0" anchor="t">
            <a:spAutoFit/>
          </a:bodyPr>
          <a:lstStyle/>
          <a:p>
            <a:pPr algn="l"/>
            <a:r>
              <a:rPr sz="3400" b="1" i="0">
                <a:solidFill>
                  <a:srgbClr val="C0392B"/>
                </a:solidFill>
                <a:latin typeface="Cambria"/>
              </a:rPr>
              <a:t>1.27</a:t>
            </a:r>
          </a:p>
        </p:txBody>
      </p:sp>
      <p:sp>
        <p:nvSpPr>
          <p:cNvPr id="9" name="text video only: failure"/>
          <p:cNvSpPr txBox="1"/>
          <p:nvPr/>
        </p:nvSpPr>
        <p:spPr>
          <a:xfrm>
            <a:off x="8732520" y="2514600"/>
            <a:ext cx="2743200" cy="365760"/>
          </a:xfrm>
          <a:prstGeom prst="rect">
            <a:avLst/>
          </a:prstGeom>
          <a:noFill/>
        </p:spPr>
        <p:txBody>
          <a:bodyPr wrap="square" lIns="0" rIns="0" tIns="0" bIns="0" anchor="t">
            <a:spAutoFit/>
          </a:bodyPr>
          <a:lstStyle/>
          <a:p>
            <a:pPr algn="l"/>
            <a:r>
              <a:rPr sz="1300" b="0" i="0">
                <a:solidFill>
                  <a:srgbClr val="6B7280"/>
                </a:solidFill>
                <a:latin typeface="Calibri"/>
              </a:rPr>
              <a:t>video only: failure</a:t>
            </a:r>
          </a:p>
        </p:txBody>
      </p:sp>
      <p:sp>
        <p:nvSpPr>
          <p:cNvPr id="10" name="text 4.19"/>
          <p:cNvSpPr txBox="1"/>
          <p:nvPr/>
        </p:nvSpPr>
        <p:spPr>
          <a:xfrm>
            <a:off x="8732520" y="2926080"/>
            <a:ext cx="1280160" cy="640080"/>
          </a:xfrm>
          <a:prstGeom prst="rect">
            <a:avLst/>
          </a:prstGeom>
          <a:noFill/>
        </p:spPr>
        <p:txBody>
          <a:bodyPr wrap="square" lIns="0" rIns="0" tIns="0" bIns="0" anchor="t">
            <a:spAutoFit/>
          </a:bodyPr>
          <a:lstStyle/>
          <a:p>
            <a:pPr algn="l"/>
            <a:r>
              <a:rPr sz="3400" b="1" i="0">
                <a:solidFill>
                  <a:srgbClr val="1E8449"/>
                </a:solidFill>
                <a:latin typeface="Cambria"/>
              </a:rPr>
              <a:t>4.19</a:t>
            </a:r>
          </a:p>
        </p:txBody>
      </p:sp>
      <p:sp>
        <p:nvSpPr>
          <p:cNvPr id="11" name="text tactile: success (tr"/>
          <p:cNvSpPr txBox="1"/>
          <p:nvPr/>
        </p:nvSpPr>
        <p:spPr>
          <a:xfrm>
            <a:off x="8732520" y="3566160"/>
            <a:ext cx="2743200" cy="365760"/>
          </a:xfrm>
          <a:prstGeom prst="rect">
            <a:avLst/>
          </a:prstGeom>
          <a:noFill/>
        </p:spPr>
        <p:txBody>
          <a:bodyPr wrap="square" lIns="0" rIns="0" tIns="0" bIns="0" anchor="t">
            <a:spAutoFit/>
          </a:bodyPr>
          <a:lstStyle/>
          <a:p>
            <a:pPr algn="l"/>
            <a:r>
              <a:rPr sz="1300" b="0" i="0">
                <a:solidFill>
                  <a:srgbClr val="6B7280"/>
                </a:solidFill>
                <a:latin typeface="Calibri"/>
              </a:rPr>
              <a:t>tactile: success (truth)</a:t>
            </a:r>
          </a:p>
        </p:txBody>
      </p:sp>
      <p:sp>
        <p:nvSpPr>
          <p:cNvPr id="12" name="text Force: peak 2.5x the"/>
          <p:cNvSpPr txBox="1"/>
          <p:nvPr/>
        </p:nvSpPr>
        <p:spPr>
          <a:xfrm>
            <a:off x="8732520" y="4023360"/>
            <a:ext cx="2743200" cy="1554480"/>
          </a:xfrm>
          <a:prstGeom prst="rect">
            <a:avLst/>
          </a:prstGeom>
          <a:noFill/>
        </p:spPr>
        <p:txBody>
          <a:bodyPr wrap="square" lIns="0" rIns="0" tIns="0" bIns="0" anchor="t">
            <a:spAutoFit/>
          </a:bodyPr>
          <a:lstStyle/>
          <a:p>
            <a:pPr algn="l"/>
            <a:r>
              <a:rPr sz="1300" b="0" i="0">
                <a:solidFill>
                  <a:srgbClr val="1F2937"/>
                </a:solidFill>
                <a:latin typeface="Calibri"/>
              </a:rPr>
              <a:t>Force: peak 2.5x the median grasp, 16.4 s of contact, last contact at 23.7 s of 28.2 s.</a:t>
            </a:r>
          </a:p>
        </p:txBody>
      </p:sp>
      <p:sp>
        <p:nvSpPr>
          <p:cNvPr id="13" name="text All 26 such clips ar"/>
          <p:cNvSpPr txBox="1"/>
          <p:nvPr/>
        </p:nvSpPr>
        <p:spPr>
          <a:xfrm>
            <a:off x="548640" y="5806440"/>
            <a:ext cx="7680960" cy="548640"/>
          </a:xfrm>
          <a:prstGeom prst="rect">
            <a:avLst/>
          </a:prstGeom>
          <a:noFill/>
        </p:spPr>
        <p:txBody>
          <a:bodyPr wrap="square" lIns="0" rIns="0" tIns="0" bIns="0" anchor="t">
            <a:spAutoFit/>
          </a:bodyPr>
          <a:lstStyle/>
          <a:p>
            <a:pPr algn="l"/>
            <a:r>
              <a:rPr sz="1200" b="0" i="0">
                <a:solidFill>
                  <a:srgbClr val="6B7280"/>
                </a:solidFill>
                <a:latin typeface="Calibri"/>
              </a:rPr>
              <a:t>All 26 such clips are rendered as side-by-side videos in writeup/hrdexdb/videos/; the 19 the video-only model wins are listed in writeup/hrdexdb/README.md.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12"/>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Baxter: our own fingertips, our own policy, zero-shot evaluation</a:t>
            </a:r>
          </a:p>
        </p:txBody>
      </p:sp>
      <p:sp>
        <p:nvSpPr>
          <p:cNvPr id="5" name="card"/>
          <p:cNvSpPr/>
          <p:nvPr/>
        </p:nvSpPr>
        <p:spPr>
          <a:xfrm>
            <a:off x="548640" y="1325880"/>
            <a:ext cx="2651760" cy="23317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Sensor"/>
          <p:cNvSpPr txBox="1"/>
          <p:nvPr/>
        </p:nvSpPr>
        <p:spPr>
          <a:xfrm>
            <a:off x="731520" y="1463040"/>
            <a:ext cx="2286000" cy="365760"/>
          </a:xfrm>
          <a:prstGeom prst="rect">
            <a:avLst/>
          </a:prstGeom>
          <a:noFill/>
        </p:spPr>
        <p:txBody>
          <a:bodyPr wrap="square" lIns="0" rIns="0" tIns="0" bIns="0" anchor="t">
            <a:spAutoFit/>
          </a:bodyPr>
          <a:lstStyle/>
          <a:p>
            <a:pPr algn="l"/>
            <a:r>
              <a:rPr sz="1600" b="1" i="0">
                <a:solidFill>
                  <a:srgbClr val="1F2937"/>
                </a:solidFill>
                <a:latin typeface="Cambria"/>
              </a:rPr>
              <a:t>Sensor</a:t>
            </a:r>
          </a:p>
        </p:txBody>
      </p:sp>
      <p:sp>
        <p:nvSpPr>
          <p:cNvPr id="7" name="text Four thin-film FSR p"/>
          <p:cNvSpPr txBox="1"/>
          <p:nvPr/>
        </p:nvSpPr>
        <p:spPr>
          <a:xfrm>
            <a:off x="731520" y="1874519"/>
            <a:ext cx="2286000" cy="1737360"/>
          </a:xfrm>
          <a:prstGeom prst="rect">
            <a:avLst/>
          </a:prstGeom>
          <a:noFill/>
        </p:spPr>
        <p:txBody>
          <a:bodyPr wrap="square" lIns="0" rIns="0" tIns="0" bIns="0" anchor="t">
            <a:spAutoFit/>
          </a:bodyPr>
          <a:lstStyle/>
          <a:p>
            <a:pPr algn="l"/>
            <a:r>
              <a:rPr sz="1200" b="0" i="0">
                <a:solidFill>
                  <a:srgbClr val="1F2937"/>
                </a:solidFill>
                <a:latin typeface="Calibri"/>
              </a:rPr>
              <a:t>Four thin-film FSR pads in a 3.3 V divider, Teensy 4.0 at 200 Hz, 12-bit ADC, clock-fitted into ROS. Left gripper only; raw counts, resting offset 92.</a:t>
            </a:r>
          </a:p>
        </p:txBody>
      </p:sp>
      <p:sp>
        <p:nvSpPr>
          <p:cNvPr id="8" name="card"/>
          <p:cNvSpPr/>
          <p:nvPr/>
        </p:nvSpPr>
        <p:spPr>
          <a:xfrm>
            <a:off x="3383280" y="1325880"/>
            <a:ext cx="2651760" cy="23317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Demos"/>
          <p:cNvSpPr txBox="1"/>
          <p:nvPr/>
        </p:nvSpPr>
        <p:spPr>
          <a:xfrm>
            <a:off x="3566160" y="1463040"/>
            <a:ext cx="2286000" cy="365760"/>
          </a:xfrm>
          <a:prstGeom prst="rect">
            <a:avLst/>
          </a:prstGeom>
          <a:noFill/>
        </p:spPr>
        <p:txBody>
          <a:bodyPr wrap="square" lIns="0" rIns="0" tIns="0" bIns="0" anchor="t">
            <a:spAutoFit/>
          </a:bodyPr>
          <a:lstStyle/>
          <a:p>
            <a:pPr algn="l"/>
            <a:r>
              <a:rPr sz="1600" b="1" i="0">
                <a:solidFill>
                  <a:srgbClr val="1F2937"/>
                </a:solidFill>
                <a:latin typeface="Cambria"/>
              </a:rPr>
              <a:t>Demos</a:t>
            </a:r>
          </a:p>
        </p:txBody>
      </p:sp>
      <p:sp>
        <p:nvSpPr>
          <p:cNvPr id="10" name="text 50 hand-guided left-"/>
          <p:cNvSpPr txBox="1"/>
          <p:nvPr/>
        </p:nvSpPr>
        <p:spPr>
          <a:xfrm>
            <a:off x="3566160" y="1874519"/>
            <a:ext cx="2286000" cy="1737360"/>
          </a:xfrm>
          <a:prstGeom prst="rect">
            <a:avLst/>
          </a:prstGeom>
          <a:noFill/>
        </p:spPr>
        <p:txBody>
          <a:bodyPr wrap="square" lIns="0" rIns="0" tIns="0" bIns="0" anchor="t">
            <a:spAutoFit/>
          </a:bodyPr>
          <a:lstStyle/>
          <a:p>
            <a:pPr algn="l"/>
            <a:r>
              <a:rPr sz="1200" b="0" i="0">
                <a:solidFill>
                  <a:srgbClr val="1F2937"/>
                </a:solidFill>
                <a:latin typeface="Calibri"/>
              </a:rPr>
              <a:t>50 hand-guided left-arm cube picks, 15 fps head and wrist cameras at 640 x 360, no tactile. Cut at the first sign of the gripper re-opening.</a:t>
            </a:r>
          </a:p>
        </p:txBody>
      </p:sp>
      <p:sp>
        <p:nvSpPr>
          <p:cNvPr id="11" name="card"/>
          <p:cNvSpPr/>
          <p:nvPr/>
        </p:nvSpPr>
        <p:spPr>
          <a:xfrm>
            <a:off x="6217920" y="1325880"/>
            <a:ext cx="2651760" cy="23317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olicy"/>
          <p:cNvSpPr txBox="1"/>
          <p:nvPr/>
        </p:nvSpPr>
        <p:spPr>
          <a:xfrm>
            <a:off x="6400800" y="1463040"/>
            <a:ext cx="2286000" cy="365760"/>
          </a:xfrm>
          <a:prstGeom prst="rect">
            <a:avLst/>
          </a:prstGeom>
          <a:noFill/>
        </p:spPr>
        <p:txBody>
          <a:bodyPr wrap="square" lIns="0" rIns="0" tIns="0" bIns="0" anchor="t">
            <a:spAutoFit/>
          </a:bodyPr>
          <a:lstStyle/>
          <a:p>
            <a:pPr algn="l"/>
            <a:r>
              <a:rPr sz="1600" b="1" i="0">
                <a:solidFill>
                  <a:srgbClr val="1F2937"/>
                </a:solidFill>
                <a:latin typeface="Cambria"/>
              </a:rPr>
              <a:t>Policy</a:t>
            </a:r>
          </a:p>
        </p:txBody>
      </p:sp>
      <p:sp>
        <p:nvSpPr>
          <p:cNvPr id="13" name="text ACT (LeRobot 0.6.1):"/>
          <p:cNvSpPr txBox="1"/>
          <p:nvPr/>
        </p:nvSpPr>
        <p:spPr>
          <a:xfrm>
            <a:off x="6400800" y="1874519"/>
            <a:ext cx="2286000" cy="1737360"/>
          </a:xfrm>
          <a:prstGeom prst="rect">
            <a:avLst/>
          </a:prstGeom>
          <a:noFill/>
        </p:spPr>
        <p:txBody>
          <a:bodyPr wrap="square" lIns="0" rIns="0" tIns="0" bIns="0" anchor="t">
            <a:spAutoFit/>
          </a:bodyPr>
          <a:lstStyle/>
          <a:p>
            <a:pPr algn="l"/>
            <a:r>
              <a:rPr sz="1200" b="0" i="0">
                <a:solidFill>
                  <a:srgbClr val="1F2937"/>
                </a:solidFill>
                <a:latin typeface="Calibri"/>
              </a:rPr>
              <a:t>ACT (LeRobot 0.6.1): chunk 30, 15 action steps, ResNet-18, VAE; 50k steps on five RTX 2080 Ti. Rollouts use the 30k checkpoint (held-out L1 0.028).</a:t>
            </a:r>
          </a:p>
        </p:txBody>
      </p:sp>
      <p:sp>
        <p:nvSpPr>
          <p:cNvPr id="14" name="card"/>
          <p:cNvSpPr/>
          <p:nvPr/>
        </p:nvSpPr>
        <p:spPr>
          <a:xfrm>
            <a:off x="9052560" y="1325880"/>
            <a:ext cx="2651760" cy="23317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Rollouts"/>
          <p:cNvSpPr txBox="1"/>
          <p:nvPr/>
        </p:nvSpPr>
        <p:spPr>
          <a:xfrm>
            <a:off x="9235440" y="1463040"/>
            <a:ext cx="2286000" cy="365760"/>
          </a:xfrm>
          <a:prstGeom prst="rect">
            <a:avLst/>
          </a:prstGeom>
          <a:noFill/>
        </p:spPr>
        <p:txBody>
          <a:bodyPr wrap="square" lIns="0" rIns="0" tIns="0" bIns="0" anchor="t">
            <a:spAutoFit/>
          </a:bodyPr>
          <a:lstStyle/>
          <a:p>
            <a:pPr algn="l"/>
            <a:r>
              <a:rPr sz="1600" b="1" i="0">
                <a:solidFill>
                  <a:srgbClr val="1F2937"/>
                </a:solidFill>
                <a:latin typeface="Cambria"/>
              </a:rPr>
              <a:t>Rollouts</a:t>
            </a:r>
          </a:p>
        </p:txBody>
      </p:sp>
      <p:sp>
        <p:nvSpPr>
          <p:cNvPr id="16" name="text Ten live runs at 30 "/>
          <p:cNvSpPr txBox="1"/>
          <p:nvPr/>
        </p:nvSpPr>
        <p:spPr>
          <a:xfrm>
            <a:off x="9235440" y="1874519"/>
            <a:ext cx="2286000" cy="1737360"/>
          </a:xfrm>
          <a:prstGeom prst="rect">
            <a:avLst/>
          </a:prstGeom>
          <a:noFill/>
        </p:spPr>
        <p:txBody>
          <a:bodyPr wrap="square" lIns="0" rIns="0" tIns="0" bIns="0" anchor="t">
            <a:spAutoFit/>
          </a:bodyPr>
          <a:lstStyle/>
          <a:p>
            <a:pPr algn="l"/>
            <a:r>
              <a:rPr sz="1200" b="0" i="0">
                <a:solidFill>
                  <a:srgbClr val="1F2937"/>
                </a:solidFill>
                <a:latin typeface="Calibri"/>
              </a:rPr>
              <a:t>Ten live runs at 30 Hz with joint-jump guard, fingertip box and speed cap, tactile recorded. Operator labels: ep0000 and ep0001 succeeded, eight failed.</a:t>
            </a:r>
          </a:p>
        </p:txBody>
      </p:sp>
      <p:pic>
        <p:nvPicPr>
          <p:cNvPr id="17" name="force traces" descr="force_traces.png"/>
          <p:cNvPicPr>
            <a:picLocks noChangeAspect="1"/>
          </p:cNvPicPr>
          <p:nvPr/>
        </p:nvPicPr>
        <p:blipFill>
          <a:blip r:embed="rId2"/>
          <a:stretch>
            <a:fillRect/>
          </a:stretch>
        </p:blipFill>
        <p:spPr>
          <a:xfrm>
            <a:off x="548640" y="3840480"/>
            <a:ext cx="5852160" cy="2173659"/>
          </a:xfrm>
          <a:prstGeom prst="rect">
            <a:avLst/>
          </a:prstGeom>
        </p:spPr>
      </p:pic>
      <p:sp>
        <p:nvSpPr>
          <p:cNvPr id="18" name="text Force and closure th"/>
          <p:cNvSpPr txBox="1"/>
          <p:nvPr/>
        </p:nvSpPr>
        <p:spPr>
          <a:xfrm>
            <a:off x="6675120" y="3931920"/>
            <a:ext cx="4937760" cy="365760"/>
          </a:xfrm>
          <a:prstGeom prst="rect">
            <a:avLst/>
          </a:prstGeom>
          <a:noFill/>
        </p:spPr>
        <p:txBody>
          <a:bodyPr wrap="square" lIns="0" rIns="0" tIns="0" bIns="0" anchor="t">
            <a:spAutoFit/>
          </a:bodyPr>
          <a:lstStyle/>
          <a:p>
            <a:pPr algn="l"/>
            <a:r>
              <a:rPr sz="1400" b="1" i="0">
                <a:solidFill>
                  <a:srgbClr val="6B7280"/>
                </a:solidFill>
                <a:latin typeface="Calibri"/>
              </a:rPr>
              <a:t>Force and closure the tactile model read, per rollout</a:t>
            </a:r>
          </a:p>
        </p:txBody>
      </p:sp>
      <p:sp>
        <p:nvSpPr>
          <p:cNvPr id="19" name="text Only ep0000 shows a "/>
          <p:cNvSpPr txBox="1"/>
          <p:nvPr/>
        </p:nvSpPr>
        <p:spPr>
          <a:xfrm>
            <a:off x="6675120" y="4343400"/>
            <a:ext cx="4937760" cy="1737360"/>
          </a:xfrm>
          <a:prstGeom prst="rect">
            <a:avLst/>
          </a:prstGeom>
          <a:noFill/>
        </p:spPr>
        <p:txBody>
          <a:bodyPr wrap="square" lIns="0" rIns="0" tIns="0" bIns="0" anchor="t">
            <a:spAutoFit/>
          </a:bodyPr>
          <a:lstStyle/>
          <a:p>
            <a:pPr algn="l"/>
            <a:r>
              <a:rPr sz="1300" b="0" i="0">
                <a:solidFill>
                  <a:srgbClr val="1F2937"/>
                </a:solidFill>
                <a:latin typeface="Calibri"/>
              </a:rPr>
              <a:t>Only ep0000 shows a clean grasp signature: closure stops at 0.64 on the cube and force holds at the grasp level for 2.9 s. ep0001 has one contact frame at the very end. The eight failures closed on nothing (closure 1.0, force 0), and five of them then lift the empty gripper exactly as a success would.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13"/>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Baxter: the force block takes the ranking from below chance to perfect</a:t>
            </a:r>
          </a:p>
        </p:txBody>
      </p:sp>
      <p:pic>
        <p:nvPicPr>
          <p:cNvPr id="5" name="baxter auroc chart" descr="baxter_auroc.png"/>
          <p:cNvPicPr>
            <a:picLocks noChangeAspect="1"/>
          </p:cNvPicPr>
          <p:nvPr/>
        </p:nvPicPr>
        <p:blipFill>
          <a:blip r:embed="rId2"/>
          <a:stretch>
            <a:fillRect/>
          </a:stretch>
        </p:blipFill>
        <p:spPr>
          <a:xfrm>
            <a:off x="548640" y="1325880"/>
            <a:ext cx="7498079" cy="3570514"/>
          </a:xfrm>
          <a:prstGeom prst="rect">
            <a:avLst/>
          </a:prstGeom>
        </p:spPr>
      </p:pic>
      <p:sp>
        <p:nvSpPr>
          <p:cNvPr id="6" name="text 0.31 → 1.00"/>
          <p:cNvSpPr txBox="1"/>
          <p:nvPr/>
        </p:nvSpPr>
        <p:spPr>
          <a:xfrm>
            <a:off x="8321040" y="1371600"/>
            <a:ext cx="3383280" cy="822960"/>
          </a:xfrm>
          <a:prstGeom prst="rect">
            <a:avLst/>
          </a:prstGeom>
          <a:noFill/>
        </p:spPr>
        <p:txBody>
          <a:bodyPr wrap="square" lIns="0" rIns="0" tIns="0" bIns="0" anchor="b">
            <a:spAutoFit/>
          </a:bodyPr>
          <a:lstStyle/>
          <a:p>
            <a:pPr algn="l"/>
            <a:r>
              <a:rPr sz="3600" b="1" i="0">
                <a:solidFill>
                  <a:srgbClr val="2A6FB0"/>
                </a:solidFill>
                <a:latin typeface="Cambria"/>
              </a:rPr>
              <a:t>0.31 → 1.00</a:t>
            </a:r>
          </a:p>
        </p:txBody>
      </p:sp>
      <p:sp>
        <p:nvSpPr>
          <p:cNvPr id="7" name="text AUROC, fine-tuned FL"/>
          <p:cNvSpPr txBox="1"/>
          <p:nvPr/>
        </p:nvSpPr>
        <p:spPr>
          <a:xfrm>
            <a:off x="8321040" y="2240280"/>
            <a:ext cx="3383280" cy="640080"/>
          </a:xfrm>
          <a:prstGeom prst="rect">
            <a:avLst/>
          </a:prstGeom>
          <a:noFill/>
        </p:spPr>
        <p:txBody>
          <a:bodyPr wrap="square" lIns="0" rIns="0" tIns="0" bIns="0" anchor="t">
            <a:spAutoFit/>
          </a:bodyPr>
          <a:lstStyle/>
          <a:p>
            <a:pPr algn="l"/>
            <a:r>
              <a:rPr sz="1300" b="0" i="0">
                <a:solidFill>
                  <a:srgbClr val="6B7280"/>
                </a:solidFill>
                <a:latin typeface="Calibri"/>
              </a:rPr>
              <a:t>AUROC, fine-tuned FLORA without and with the force block</a:t>
            </a:r>
          </a:p>
        </p:txBody>
      </p:sp>
      <p:sp>
        <p:nvSpPr>
          <p:cNvPr id="8" name="text 0.375 → 1.00"/>
          <p:cNvSpPr txBox="1"/>
          <p:nvPr/>
        </p:nvSpPr>
        <p:spPr>
          <a:xfrm>
            <a:off x="8321040" y="3017520"/>
            <a:ext cx="3383280" cy="822960"/>
          </a:xfrm>
          <a:prstGeom prst="rect">
            <a:avLst/>
          </a:prstGeom>
          <a:noFill/>
        </p:spPr>
        <p:txBody>
          <a:bodyPr wrap="square" lIns="0" rIns="0" tIns="0" bIns="0" anchor="b">
            <a:spAutoFit/>
          </a:bodyPr>
          <a:lstStyle/>
          <a:p>
            <a:pPr algn="l"/>
            <a:r>
              <a:rPr sz="3600" b="1" i="0">
                <a:solidFill>
                  <a:srgbClr val="2A6FB0"/>
                </a:solidFill>
                <a:latin typeface="Cambria"/>
              </a:rPr>
              <a:t>0.375 → 1.00</a:t>
            </a:r>
          </a:p>
        </p:txBody>
      </p:sp>
      <p:sp>
        <p:nvSpPr>
          <p:cNvPr id="9" name="text released FLORA witho"/>
          <p:cNvSpPr txBox="1"/>
          <p:nvPr/>
        </p:nvSpPr>
        <p:spPr>
          <a:xfrm>
            <a:off x="8321040" y="3886200"/>
            <a:ext cx="3383280" cy="640080"/>
          </a:xfrm>
          <a:prstGeom prst="rect">
            <a:avLst/>
          </a:prstGeom>
          <a:noFill/>
        </p:spPr>
        <p:txBody>
          <a:bodyPr wrap="square" lIns="0" rIns="0" tIns="0" bIns="0" anchor="t">
            <a:spAutoFit/>
          </a:bodyPr>
          <a:lstStyle/>
          <a:p>
            <a:pPr algn="l"/>
            <a:r>
              <a:rPr sz="1300" b="0" i="0">
                <a:solidFill>
                  <a:srgbClr val="6B7280"/>
                </a:solidFill>
                <a:latin typeface="Calibri"/>
              </a:rPr>
              <a:t>released FLORA without and with the block, no training at all</a:t>
            </a:r>
          </a:p>
        </p:txBody>
      </p:sp>
      <p:sp>
        <p:nvSpPr>
          <p:cNvPr id="10" name="text Every condition has "/>
          <p:cNvSpPr txBox="1"/>
          <p:nvPr/>
        </p:nvSpPr>
        <p:spPr>
          <a:xfrm>
            <a:off x="8321040" y="4663440"/>
            <a:ext cx="3383280" cy="1463040"/>
          </a:xfrm>
          <a:prstGeom prst="rect">
            <a:avLst/>
          </a:prstGeom>
          <a:noFill/>
        </p:spPr>
        <p:txBody>
          <a:bodyPr wrap="square" lIns="0" rIns="0" tIns="0" bIns="0" anchor="t">
            <a:spAutoFit/>
          </a:bodyPr>
          <a:lstStyle/>
          <a:p>
            <a:pPr algn="l"/>
            <a:r>
              <a:rPr sz="1200" b="0" i="0">
                <a:solidFill>
                  <a:srgbClr val="6B7280"/>
                </a:solidFill>
                <a:latin typeface="Calibri"/>
              </a:rPr>
              <a:t>Every condition has accuracy 0.80, the majority class: no model scores a success at or above 4.0, so the signal is the ranking. Shuffled force 0.25, force removed 0.44, force-only classifier 0.50.</a:t>
            </a:r>
          </a:p>
        </p:txBody>
      </p:sp>
      <p:sp>
        <p:nvSpPr>
          <p:cNvPr id="11" name="text Ten clips, two succe"/>
          <p:cNvSpPr txBox="1"/>
          <p:nvPr/>
        </p:nvSpPr>
        <p:spPr>
          <a:xfrm>
            <a:off x="548640" y="5943600"/>
            <a:ext cx="7498079" cy="457200"/>
          </a:xfrm>
          <a:prstGeom prst="rect">
            <a:avLst/>
          </a:prstGeom>
          <a:noFill/>
        </p:spPr>
        <p:txBody>
          <a:bodyPr wrap="square" lIns="0" rIns="0" tIns="0" bIns="0" anchor="t">
            <a:spAutoFit/>
          </a:bodyPr>
          <a:lstStyle/>
          <a:p>
            <a:pPr algn="l"/>
            <a:r>
              <a:rPr sz="1100" b="0" i="0">
                <a:solidFill>
                  <a:srgbClr val="6B7280"/>
                </a:solidFill>
                <a:latin typeface="Calibri"/>
              </a:rPr>
              <a:t>Ten clips, two successes: 16 ordered pairs. A direction, not a significance result. Slurm job 6490, two MI210s, 8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14"/>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ep0000: the video models cannot see the lift, the force block can</a:t>
            </a:r>
          </a:p>
        </p:txBody>
      </p:sp>
      <p:pic>
        <p:nvPicPr>
          <p:cNvPr id="5" name="ep0000 poster" descr="ep0000_success.png"/>
          <p:cNvPicPr>
            <a:picLocks noChangeAspect="1"/>
          </p:cNvPicPr>
          <p:nvPr/>
        </p:nvPicPr>
        <p:blipFill>
          <a:blip r:embed="rId2"/>
          <a:stretch>
            <a:fillRect/>
          </a:stretch>
        </p:blipFill>
        <p:spPr>
          <a:xfrm>
            <a:off x="548640" y="1325880"/>
            <a:ext cx="7223760" cy="4063365"/>
          </a:xfrm>
          <a:prstGeom prst="rect">
            <a:avLst/>
          </a:prstGeom>
        </p:spPr>
      </p:pic>
      <p:graphicFrame>
        <p:nvGraphicFramePr>
          <p:cNvPr id="6" name="Table 5"/>
          <p:cNvGraphicFramePr>
            <a:graphicFrameLocks noGrp="1"/>
          </p:cNvGraphicFramePr>
          <p:nvPr/>
        </p:nvGraphicFramePr>
        <p:xfrm>
          <a:off x="8046720" y="1325880"/>
          <a:ext cx="3611880" cy="1737360"/>
        </p:xfrm>
        <a:graphic>
          <a:graphicData uri="http://schemas.openxmlformats.org/drawingml/2006/table">
            <a:tbl>
              <a:tblPr firstRow="1" bandRow="1">
                <a:tableStyleId>{5C22544A-7EE6-4342-B048-85BDC9FD1C3A}</a:tableStyleId>
              </a:tblPr>
              <a:tblGrid>
                <a:gridCol w="1417320"/>
                <a:gridCol w="1188720"/>
                <a:gridCol w="1005840"/>
              </a:tblGrid>
              <a:tr h="347472">
                <a:tc>
                  <a:txBody>
                    <a:bodyPr wrap="square"/>
                    <a:lstStyle/>
                    <a:p>
                      <a:pPr algn="l"/>
                      <a:r>
                        <a:rPr sz="1200" b="1">
                          <a:solidFill>
                            <a:srgbClr val="1F2937"/>
                          </a:solidFill>
                          <a:latin typeface="Calibri"/>
                        </a:rPr>
                        <a:t>Episode</a:t>
                      </a:r>
                    </a:p>
                  </a:txBody>
                  <a:tcPr marL="54864" marR="54864" marT="18288" marB="18288">
                    <a:solidFill>
                      <a:srgbClr val="EEF2F6"/>
                    </a:solidFill>
                  </a:tcPr>
                </a:tc>
                <a:tc>
                  <a:txBody>
                    <a:bodyPr wrap="square"/>
                    <a:lstStyle/>
                    <a:p>
                      <a:pPr algn="r"/>
                      <a:r>
                        <a:rPr sz="1200" b="1">
                          <a:solidFill>
                            <a:srgbClr val="1F2937"/>
                          </a:solidFill>
                          <a:latin typeface="Calibri"/>
                        </a:rPr>
                        <a:t>Video only</a:t>
                      </a:r>
                    </a:p>
                  </a:txBody>
                  <a:tcPr marL="54864" marR="54864" marT="18288" marB="18288">
                    <a:solidFill>
                      <a:srgbClr val="EEF2F6"/>
                    </a:solidFill>
                  </a:tcPr>
                </a:tc>
                <a:tc>
                  <a:txBody>
                    <a:bodyPr wrap="square"/>
                    <a:lstStyle/>
                    <a:p>
                      <a:pPr algn="r"/>
                      <a:r>
                        <a:rPr sz="1200" b="1">
                          <a:solidFill>
                            <a:srgbClr val="1F2937"/>
                          </a:solidFill>
                          <a:latin typeface="Calibri"/>
                        </a:rPr>
                        <a:t>Tactile</a:t>
                      </a:r>
                    </a:p>
                  </a:txBody>
                  <a:tcPr marL="54864" marR="54864" marT="18288" marB="18288">
                    <a:solidFill>
                      <a:srgbClr val="EEF2F6"/>
                    </a:solidFill>
                  </a:tcPr>
                </a:tc>
              </a:tr>
              <a:tr h="347472">
                <a:tc>
                  <a:txBody>
                    <a:bodyPr wrap="square"/>
                    <a:lstStyle/>
                    <a:p>
                      <a:pPr algn="l"/>
                      <a:r>
                        <a:rPr sz="1200" b="0">
                          <a:solidFill>
                            <a:srgbClr val="1F2937"/>
                          </a:solidFill>
                          <a:latin typeface="Calibri"/>
                        </a:rPr>
                        <a:t>ep0000 success</a:t>
                      </a:r>
                    </a:p>
                  </a:txBody>
                  <a:tcPr marL="54864" marR="54864" marT="18288" marB="18288">
                    <a:solidFill>
                      <a:srgbClr val="FFFFFF"/>
                    </a:solidFill>
                  </a:tcPr>
                </a:tc>
                <a:tc>
                  <a:txBody>
                    <a:bodyPr wrap="square"/>
                    <a:lstStyle/>
                    <a:p>
                      <a:pPr algn="r"/>
                      <a:r>
                        <a:rPr sz="1200" b="0">
                          <a:solidFill>
                            <a:srgbClr val="1F2937"/>
                          </a:solidFill>
                          <a:latin typeface="Calibri"/>
                        </a:rPr>
                        <a:t>1.34, 6th of 10</a:t>
                      </a:r>
                    </a:p>
                  </a:txBody>
                  <a:tcPr marL="54864" marR="54864" marT="18288" marB="18288">
                    <a:solidFill>
                      <a:srgbClr val="FFFFFF"/>
                    </a:solidFill>
                  </a:tcPr>
                </a:tc>
                <a:tc>
                  <a:txBody>
                    <a:bodyPr wrap="square"/>
                    <a:lstStyle/>
                    <a:p>
                      <a:pPr algn="r"/>
                      <a:r>
                        <a:rPr sz="1200" b="1">
                          <a:solidFill>
                            <a:srgbClr val="2A6FB0"/>
                          </a:solidFill>
                          <a:latin typeface="Calibri"/>
                        </a:rPr>
                        <a:t>2.41, 1st</a:t>
                      </a:r>
                    </a:p>
                  </a:txBody>
                  <a:tcPr marL="54864" marR="54864" marT="18288" marB="18288">
                    <a:solidFill>
                      <a:srgbClr val="FFFFFF"/>
                    </a:solidFill>
                  </a:tcPr>
                </a:tc>
              </a:tr>
              <a:tr h="347472">
                <a:tc>
                  <a:txBody>
                    <a:bodyPr wrap="square"/>
                    <a:lstStyle/>
                    <a:p>
                      <a:pPr algn="l"/>
                      <a:r>
                        <a:rPr sz="1200" b="0">
                          <a:solidFill>
                            <a:srgbClr val="1F2937"/>
                          </a:solidFill>
                          <a:latin typeface="Calibri"/>
                        </a:rPr>
                        <a:t>ep0001 success</a:t>
                      </a:r>
                    </a:p>
                  </a:txBody>
                  <a:tcPr marL="54864" marR="54864" marT="18288" marB="18288">
                    <a:solidFill>
                      <a:srgbClr val="FFFFFF"/>
                    </a:solidFill>
                  </a:tcPr>
                </a:tc>
                <a:tc>
                  <a:txBody>
                    <a:bodyPr wrap="square"/>
                    <a:lstStyle/>
                    <a:p>
                      <a:pPr algn="r"/>
                      <a:r>
                        <a:rPr sz="1200" b="0">
                          <a:solidFill>
                            <a:srgbClr val="1F2937"/>
                          </a:solidFill>
                          <a:latin typeface="Calibri"/>
                        </a:rPr>
                        <a:t>1.05, 8th</a:t>
                      </a:r>
                    </a:p>
                  </a:txBody>
                  <a:tcPr marL="54864" marR="54864" marT="18288" marB="18288">
                    <a:solidFill>
                      <a:srgbClr val="FFFFFF"/>
                    </a:solidFill>
                  </a:tcPr>
                </a:tc>
                <a:tc>
                  <a:txBody>
                    <a:bodyPr wrap="square"/>
                    <a:lstStyle/>
                    <a:p>
                      <a:pPr algn="r"/>
                      <a:r>
                        <a:rPr sz="1200" b="1">
                          <a:solidFill>
                            <a:srgbClr val="2A6FB0"/>
                          </a:solidFill>
                          <a:latin typeface="Calibri"/>
                        </a:rPr>
                        <a:t>1.60, 2nd</a:t>
                      </a:r>
                    </a:p>
                  </a:txBody>
                  <a:tcPr marL="54864" marR="54864" marT="18288" marB="18288">
                    <a:solidFill>
                      <a:srgbClr val="FFFFFF"/>
                    </a:solidFill>
                  </a:tcPr>
                </a:tc>
              </a:tr>
              <a:tr h="347472">
                <a:tc>
                  <a:txBody>
                    <a:bodyPr wrap="square"/>
                    <a:lstStyle/>
                    <a:p>
                      <a:pPr algn="l"/>
                      <a:r>
                        <a:rPr sz="1200" b="0">
                          <a:solidFill>
                            <a:srgbClr val="1F2937"/>
                          </a:solidFill>
                          <a:latin typeface="Calibri"/>
                        </a:rPr>
                        <a:t>ep0003 empty lift</a:t>
                      </a:r>
                    </a:p>
                  </a:txBody>
                  <a:tcPr marL="54864" marR="54864" marT="18288" marB="18288">
                    <a:solidFill>
                      <a:srgbClr val="FFFFFF"/>
                    </a:solidFill>
                  </a:tcPr>
                </a:tc>
                <a:tc>
                  <a:txBody>
                    <a:bodyPr wrap="square"/>
                    <a:lstStyle/>
                    <a:p>
                      <a:pPr algn="r"/>
                      <a:r>
                        <a:rPr sz="1200" b="0">
                          <a:solidFill>
                            <a:srgbClr val="1F2937"/>
                          </a:solidFill>
                          <a:latin typeface="Calibri"/>
                        </a:rPr>
                        <a:t>1.99, 1st</a:t>
                      </a:r>
                    </a:p>
                  </a:txBody>
                  <a:tcPr marL="54864" marR="54864" marT="18288" marB="18288">
                    <a:solidFill>
                      <a:srgbClr val="FFFFFF"/>
                    </a:solidFill>
                  </a:tcPr>
                </a:tc>
                <a:tc>
                  <a:txBody>
                    <a:bodyPr wrap="square"/>
                    <a:lstStyle/>
                    <a:p>
                      <a:pPr algn="r"/>
                      <a:r>
                        <a:rPr sz="1200" b="1">
                          <a:solidFill>
                            <a:srgbClr val="2A6FB0"/>
                          </a:solidFill>
                          <a:latin typeface="Calibri"/>
                        </a:rPr>
                        <a:t>1.09, 3rd</a:t>
                      </a:r>
                    </a:p>
                  </a:txBody>
                  <a:tcPr marL="54864" marR="54864" marT="18288" marB="18288">
                    <a:solidFill>
                      <a:srgbClr val="FFFFFF"/>
                    </a:solidFill>
                  </a:tcPr>
                </a:tc>
              </a:tr>
              <a:tr h="347472">
                <a:tc>
                  <a:txBody>
                    <a:bodyPr wrap="square"/>
                    <a:lstStyle/>
                    <a:p>
                      <a:pPr algn="l"/>
                      <a:r>
                        <a:rPr sz="1200" b="0">
                          <a:solidFill>
                            <a:srgbClr val="1F2937"/>
                          </a:solidFill>
                          <a:latin typeface="Calibri"/>
                        </a:rPr>
                        <a:t>ep0008 empty lift</a:t>
                      </a:r>
                    </a:p>
                  </a:txBody>
                  <a:tcPr marL="54864" marR="54864" marT="18288" marB="18288">
                    <a:solidFill>
                      <a:srgbClr val="FFFFFF"/>
                    </a:solidFill>
                  </a:tcPr>
                </a:tc>
                <a:tc>
                  <a:txBody>
                    <a:bodyPr wrap="square"/>
                    <a:lstStyle/>
                    <a:p>
                      <a:pPr algn="r"/>
                      <a:r>
                        <a:rPr sz="1200" b="0">
                          <a:solidFill>
                            <a:srgbClr val="1F2937"/>
                          </a:solidFill>
                          <a:latin typeface="Calibri"/>
                        </a:rPr>
                        <a:t>1.75, 2nd</a:t>
                      </a:r>
                    </a:p>
                  </a:txBody>
                  <a:tcPr marL="54864" marR="54864" marT="18288" marB="18288">
                    <a:solidFill>
                      <a:srgbClr val="FFFFFF"/>
                    </a:solidFill>
                  </a:tcPr>
                </a:tc>
                <a:tc>
                  <a:txBody>
                    <a:bodyPr wrap="square"/>
                    <a:lstStyle/>
                    <a:p>
                      <a:pPr algn="r"/>
                      <a:r>
                        <a:rPr sz="1200" b="1">
                          <a:solidFill>
                            <a:srgbClr val="2A6FB0"/>
                          </a:solidFill>
                          <a:latin typeface="Calibri"/>
                        </a:rPr>
                        <a:t>1.04, 6th</a:t>
                      </a:r>
                    </a:p>
                  </a:txBody>
                  <a:tcPr marL="54864" marR="54864" marT="18288" marB="18288">
                    <a:solidFill>
                      <a:srgbClr val="FFFFFF"/>
                    </a:solidFill>
                  </a:tcPr>
                </a:tc>
              </a:tr>
            </a:tbl>
          </a:graphicData>
        </a:graphic>
      </p:graphicFrame>
      <p:sp>
        <p:nvSpPr>
          <p:cNvPr id="7" name="text Expected score and r"/>
          <p:cNvSpPr txBox="1"/>
          <p:nvPr/>
        </p:nvSpPr>
        <p:spPr>
          <a:xfrm>
            <a:off x="8046720" y="3200400"/>
            <a:ext cx="3611880" cy="914400"/>
          </a:xfrm>
          <a:prstGeom prst="rect">
            <a:avLst/>
          </a:prstGeom>
          <a:noFill/>
        </p:spPr>
        <p:txBody>
          <a:bodyPr wrap="square" lIns="0" rIns="0" tIns="0" bIns="0" anchor="t">
            <a:spAutoFit/>
          </a:bodyPr>
          <a:lstStyle/>
          <a:p>
            <a:pPr algn="l"/>
            <a:r>
              <a:rPr sz="1200" b="0" i="0">
                <a:solidFill>
                  <a:srgbClr val="6B7280"/>
                </a:solidFill>
                <a:latin typeface="Calibri"/>
              </a:rPr>
              <a:t>Expected score and rank among the ten clips. The tactile model's lowest success (1.60) sits 0.51 above its highest failure (1.09).</a:t>
            </a:r>
          </a:p>
        </p:txBody>
      </p:sp>
      <p:sp>
        <p:nvSpPr>
          <p:cNvPr id="8" name="text ep0003 and ep0008 ar"/>
          <p:cNvSpPr txBox="1"/>
          <p:nvPr/>
        </p:nvSpPr>
        <p:spPr>
          <a:xfrm>
            <a:off x="8046720" y="4206240"/>
            <a:ext cx="3611880" cy="1463040"/>
          </a:xfrm>
          <a:prstGeom prst="rect">
            <a:avLst/>
          </a:prstGeom>
          <a:noFill/>
        </p:spPr>
        <p:txBody>
          <a:bodyPr wrap="square" lIns="0" rIns="0" tIns="0" bIns="0" anchor="t">
            <a:spAutoFit/>
          </a:bodyPr>
          <a:lstStyle/>
          <a:p>
            <a:pPr algn="l"/>
            <a:r>
              <a:rPr sz="1200" b="0" i="0">
                <a:solidFill>
                  <a:srgbClr val="1F2937"/>
                </a:solidFill>
                <a:latin typeface="Calibri"/>
              </a:rPr>
              <a:t>ep0003 and ep0008 are the video-only model's two top scores: the arm closes, lifts and moves exactly as in a success. With its force block removed the tactile adapter also puts them on top (2.97, 2.31).</a:t>
            </a:r>
          </a:p>
        </p:txBody>
      </p:sp>
      <p:sp>
        <p:nvSpPr>
          <p:cNvPr id="9" name="text Side-by-side videos "/>
          <p:cNvSpPr txBox="1"/>
          <p:nvPr/>
        </p:nvSpPr>
        <p:spPr>
          <a:xfrm>
            <a:off x="548640" y="5852160"/>
            <a:ext cx="7223760" cy="457200"/>
          </a:xfrm>
          <a:prstGeom prst="rect">
            <a:avLst/>
          </a:prstGeom>
          <a:noFill/>
        </p:spPr>
        <p:txBody>
          <a:bodyPr wrap="square" lIns="0" rIns="0" tIns="0" bIns="0" anchor="t">
            <a:spAutoFit/>
          </a:bodyPr>
          <a:lstStyle/>
          <a:p>
            <a:pPr algn="l"/>
            <a:r>
              <a:rPr sz="1100" b="0" i="0">
                <a:solidFill>
                  <a:srgbClr val="6B7280"/>
                </a:solidFill>
                <a:latin typeface="Calibri"/>
              </a:rPr>
              <a:t>Side-by-side videos for the seven clips where the tactile model wins by at least 0.1: writeup/baxter-rollouts/videos/.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Tactile FLORA  ·  20"/>
          <p:cNvSpPr txBox="1"/>
          <p:nvPr/>
        </p:nvSpPr>
        <p:spPr>
          <a:xfrm>
            <a:off x="548640" y="6400800"/>
            <a:ext cx="5486400" cy="274320"/>
          </a:xfrm>
          <a:prstGeom prst="rect">
            <a:avLst/>
          </a:prstGeom>
          <a:noFill/>
        </p:spPr>
        <p:txBody>
          <a:bodyPr wrap="square" lIns="0" rIns="0" tIns="0" bIns="0" anchor="t">
            <a:spAutoFit/>
          </a:bodyPr>
          <a:lstStyle/>
          <a:p>
            <a:pPr algn="l"/>
            <a:r>
              <a:rPr sz="1000" b="0" i="0">
                <a:solidFill>
                  <a:srgbClr val="6B7280"/>
                </a:solidFill>
                <a:latin typeface="Calibri"/>
              </a:rPr>
              <a:t>Tactile FLORA  ·  2026-10-24</a:t>
            </a:r>
          </a:p>
        </p:txBody>
      </p:sp>
      <p:sp>
        <p:nvSpPr>
          <p:cNvPr id="3" name="text 15"/>
          <p:cNvSpPr txBox="1"/>
          <p:nvPr/>
        </p:nvSpPr>
        <p:spPr>
          <a:xfrm>
            <a:off x="11155680" y="6400800"/>
            <a:ext cx="484632"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4" name="titl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F2937"/>
                </a:solidFill>
                <a:latin typeface="Cambria"/>
              </a:rPr>
              <a:t>Caveats</a:t>
            </a:r>
          </a:p>
        </p:txBody>
      </p:sp>
      <p:sp>
        <p:nvSpPr>
          <p:cNvPr id="5" name="bullets"/>
          <p:cNvSpPr txBox="1"/>
          <p:nvPr/>
        </p:nvSpPr>
        <p:spPr>
          <a:xfrm>
            <a:off x="548640" y="1371600"/>
            <a:ext cx="11064240" cy="4846320"/>
          </a:xfrm>
          <a:prstGeom prst="rect">
            <a:avLst/>
          </a:prstGeom>
          <a:noFill/>
        </p:spPr>
        <p:txBody>
          <a:bodyPr wrap="square" lIns="0" rIns="0" tIns="0" bIns="0">
            <a:spAutoFit/>
          </a:bodyPr>
          <a:lstStyle/>
          <a:p>
            <a:pPr>
              <a:spcAft>
                <a:spcPts val="1000"/>
              </a:spcAft>
            </a:pPr>
            <a:r>
              <a:rPr sz="1400">
                <a:solidFill>
                  <a:srgbClr val="2A6FB0"/>
                </a:solidFill>
                <a:latin typeface="Calibri"/>
              </a:rPr>
              <a:t>•  </a:t>
            </a:r>
            <a:r>
              <a:rPr sz="1400" b="1">
                <a:solidFill>
                  <a:srgbClr val="1F2937"/>
                </a:solidFill>
                <a:latin typeface="Calibri"/>
              </a:rPr>
              <a:t>Sample size. </a:t>
            </a:r>
            <a:r>
              <a:rPr sz="1400">
                <a:solidFill>
                  <a:srgbClr val="1F2937"/>
                </a:solidFill>
                <a:latin typeface="Calibri"/>
              </a:rPr>
              <a:t>251 held-out clips cannot certify a 3-point accuracy gain; the AUROC gain is the significant one. Baxter: ten clips, two positives, no significance claim.</a:t>
            </a:r>
          </a:p>
          <a:p>
            <a:pPr>
              <a:spcAft>
                <a:spcPts val="1000"/>
              </a:spcAft>
            </a:pPr>
            <a:r>
              <a:rPr sz="1400">
                <a:solidFill>
                  <a:srgbClr val="2A6FB0"/>
                </a:solidFill>
                <a:latin typeface="Calibri"/>
              </a:rPr>
              <a:t>•  </a:t>
            </a:r>
            <a:r>
              <a:rPr sz="1400" b="1">
                <a:solidFill>
                  <a:srgbClr val="1F2937"/>
                </a:solidFill>
                <a:latin typeface="Calibri"/>
              </a:rPr>
              <a:t>Control provenance. </a:t>
            </a:r>
            <a:r>
              <a:rPr sz="1400">
                <a:solidFill>
                  <a:srgbClr val="1F2937"/>
                </a:solidFill>
                <a:latin typeface="Calibri"/>
              </a:rPr>
              <a:t>The video-only comparison is the v2 control adapter; the v3 control retrain was preempted. Inputs are identical, so only training noise is unmeasured.</a:t>
            </a:r>
          </a:p>
          <a:p>
            <a:pPr>
              <a:spcAft>
                <a:spcPts val="1000"/>
              </a:spcAft>
            </a:pPr>
            <a:r>
              <a:rPr sz="1400">
                <a:solidFill>
                  <a:srgbClr val="2A6FB0"/>
                </a:solidFill>
                <a:latin typeface="Calibri"/>
              </a:rPr>
              <a:t>•  </a:t>
            </a:r>
            <a:r>
              <a:rPr sz="1400" b="1">
                <a:solidFill>
                  <a:srgbClr val="1F2937"/>
                </a:solidFill>
                <a:latin typeface="Calibri"/>
              </a:rPr>
              <a:t>A small classifier rides in the block. </a:t>
            </a:r>
            <a:r>
              <a:rPr sz="1400">
                <a:solidFill>
                  <a:srgbClr val="1F2937"/>
                </a:solidFill>
                <a:latin typeface="Calibri"/>
              </a:rPr>
              <a:t>Its probability is one line the VLM reads; the raw force lines stay. It cannot explain Baxter (its own AUROC there is 0.5).</a:t>
            </a:r>
          </a:p>
          <a:p>
            <a:pPr>
              <a:spcAft>
                <a:spcPts val="1000"/>
              </a:spcAft>
            </a:pPr>
            <a:r>
              <a:rPr sz="1400">
                <a:solidFill>
                  <a:srgbClr val="2A6FB0"/>
                </a:solidFill>
                <a:latin typeface="Calibri"/>
              </a:rPr>
              <a:t>•  </a:t>
            </a:r>
            <a:r>
              <a:rPr sz="1400" b="1">
                <a:solidFill>
                  <a:srgbClr val="1F2937"/>
                </a:solidFill>
                <a:latin typeface="Calibri"/>
              </a:rPr>
              <a:t>Undertrained. </a:t>
            </a:r>
            <a:r>
              <a:rPr sz="1400">
                <a:solidFill>
                  <a:srgbClr val="1F2937"/>
                </a:solidFill>
                <a:latin typeface="Calibri"/>
              </a:rPr>
              <a:t>Loss floors by update 20 of 88: the target is a template plus one digit. Both fine-tunes are data-limited.</a:t>
            </a:r>
          </a:p>
          <a:p>
            <a:pPr>
              <a:spcAft>
                <a:spcPts val="1000"/>
              </a:spcAft>
            </a:pPr>
            <a:r>
              <a:rPr sz="1400">
                <a:solidFill>
                  <a:srgbClr val="2A6FB0"/>
                </a:solidFill>
                <a:latin typeface="Calibri"/>
              </a:rPr>
              <a:t>•  </a:t>
            </a:r>
            <a:r>
              <a:rPr sz="1400" b="1">
                <a:solidFill>
                  <a:srgbClr val="1F2937"/>
                </a:solidFill>
                <a:latin typeface="Calibri"/>
              </a:rPr>
              <a:t>96 px views. </a:t>
            </a:r>
            <a:r>
              <a:rPr sz="1400">
                <a:solidFill>
                  <a:srgbClr val="1F2937"/>
                </a:solidFill>
                <a:latin typeface="Calibri"/>
              </a:rPr>
              <a:t>All video models saw tiny thumbnails; higher resolution would help every one of them and may shrink the force gain.</a:t>
            </a:r>
          </a:p>
          <a:p>
            <a:pPr>
              <a:spcAft>
                <a:spcPts val="1000"/>
              </a:spcAft>
            </a:pPr>
            <a:r>
              <a:rPr sz="1400">
                <a:solidFill>
                  <a:srgbClr val="2A6FB0"/>
                </a:solidFill>
                <a:latin typeface="Calibri"/>
              </a:rPr>
              <a:t>•  </a:t>
            </a:r>
            <a:r>
              <a:rPr sz="1400" b="1">
                <a:solidFill>
                  <a:srgbClr val="1F2937"/>
                </a:solidFill>
                <a:latin typeface="Calibri"/>
              </a:rPr>
              <a:t>Baxter specifics. </a:t>
            </a:r>
            <a:r>
              <a:rPr sz="1400">
                <a:solidFill>
                  <a:srgbClr val="1F2937"/>
                </a:solidFill>
                <a:latin typeface="Calibri"/>
              </a:rPr>
              <a:t>Normalization fitted on the ten test clips (label-free); ep0001 rests on one line of the block; uncalibrated FSR counts; left pads shown as the right-hand pads the adapter knew.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12B"/>
        </a:solidFill>
        <a:effectLst/>
      </p:bgPr>
    </p:bg>
    <p:spTree>
      <p:nvGrpSpPr>
        <p:cNvPr id="1" name=""/>
        <p:cNvGrpSpPr/>
        <p:nvPr/>
      </p:nvGrpSpPr>
      <p:grpSpPr/>
      <p:sp>
        <p:nvSpPr>
          <p:cNvPr id="2" name="text Tactile FLORA outper"/>
          <p:cNvSpPr txBox="1"/>
          <p:nvPr/>
        </p:nvSpPr>
        <p:spPr>
          <a:xfrm>
            <a:off x="822960" y="640080"/>
            <a:ext cx="10515600" cy="914400"/>
          </a:xfrm>
          <a:prstGeom prst="rect">
            <a:avLst/>
          </a:prstGeom>
          <a:noFill/>
        </p:spPr>
        <p:txBody>
          <a:bodyPr wrap="square" lIns="0" rIns="0" tIns="0" bIns="0" anchor="t">
            <a:spAutoFit/>
          </a:bodyPr>
          <a:lstStyle/>
          <a:p>
            <a:pPr algn="l"/>
            <a:r>
              <a:rPr sz="3400" b="1" i="0">
                <a:solidFill>
                  <a:srgbClr val="FFFFFF"/>
                </a:solidFill>
                <a:latin typeface="Cambria"/>
              </a:rPr>
              <a:t>Tactile FLORA outperforms regular FLORA at judging grasps</a:t>
            </a:r>
          </a:p>
        </p:txBody>
      </p:sp>
      <p:sp>
        <p:nvSpPr>
          <p:cNvPr id="3" name="text vs released FLORA"/>
          <p:cNvSpPr txBox="1"/>
          <p:nvPr/>
        </p:nvSpPr>
        <p:spPr>
          <a:xfrm>
            <a:off x="822960" y="1828800"/>
            <a:ext cx="3383280" cy="457200"/>
          </a:xfrm>
          <a:prstGeom prst="rect">
            <a:avLst/>
          </a:prstGeom>
          <a:noFill/>
        </p:spPr>
        <p:txBody>
          <a:bodyPr wrap="square" lIns="0" rIns="0" tIns="0" bIns="0" anchor="t">
            <a:spAutoFit/>
          </a:bodyPr>
          <a:lstStyle/>
          <a:p>
            <a:pPr algn="l"/>
            <a:r>
              <a:rPr sz="1800" b="1" i="0">
                <a:solidFill>
                  <a:srgbClr val="2A6FB0"/>
                </a:solidFill>
                <a:latin typeface="Cambria"/>
              </a:rPr>
              <a:t>vs released FLORA</a:t>
            </a:r>
          </a:p>
        </p:txBody>
      </p:sp>
      <p:sp>
        <p:nvSpPr>
          <p:cNvPr id="4" name="text +12.8 pts, +0.27 AUR"/>
          <p:cNvSpPr txBox="1"/>
          <p:nvPr/>
        </p:nvSpPr>
        <p:spPr>
          <a:xfrm>
            <a:off x="822960" y="2331720"/>
            <a:ext cx="3383280" cy="1463040"/>
          </a:xfrm>
          <a:prstGeom prst="rect">
            <a:avLst/>
          </a:prstGeom>
          <a:noFill/>
        </p:spPr>
        <p:txBody>
          <a:bodyPr wrap="square" lIns="0" rIns="0" tIns="0" bIns="0" anchor="t">
            <a:spAutoFit/>
          </a:bodyPr>
          <a:lstStyle/>
          <a:p>
            <a:pPr algn="l"/>
            <a:r>
              <a:rPr sz="1500" b="0" i="0">
                <a:solidFill>
                  <a:srgbClr val="D6DDE5"/>
                </a:solidFill>
                <a:latin typeface="Calibri"/>
              </a:rPr>
              <a:t>+12.8 pts, +0.27 AUROC on HRDexDB; 0.375 to 1.0 on Baxter</a:t>
            </a:r>
          </a:p>
        </p:txBody>
      </p:sp>
      <p:sp>
        <p:nvSpPr>
          <p:cNvPr id="5" name="text vs video-only fine-t"/>
          <p:cNvSpPr txBox="1"/>
          <p:nvPr/>
        </p:nvSpPr>
        <p:spPr>
          <a:xfrm>
            <a:off x="4480560" y="1828800"/>
            <a:ext cx="3383280" cy="457200"/>
          </a:xfrm>
          <a:prstGeom prst="rect">
            <a:avLst/>
          </a:prstGeom>
          <a:noFill/>
        </p:spPr>
        <p:txBody>
          <a:bodyPr wrap="square" lIns="0" rIns="0" tIns="0" bIns="0" anchor="t">
            <a:spAutoFit/>
          </a:bodyPr>
          <a:lstStyle/>
          <a:p>
            <a:pPr algn="l"/>
            <a:r>
              <a:rPr sz="1800" b="1" i="0">
                <a:solidFill>
                  <a:srgbClr val="2A6FB0"/>
                </a:solidFill>
                <a:latin typeface="Cambria"/>
              </a:rPr>
              <a:t>vs video-only fine-tune</a:t>
            </a:r>
          </a:p>
        </p:txBody>
      </p:sp>
      <p:sp>
        <p:nvSpPr>
          <p:cNvPr id="6" name="text +2.8 pts, +0.043 AUR"/>
          <p:cNvSpPr txBox="1"/>
          <p:nvPr/>
        </p:nvSpPr>
        <p:spPr>
          <a:xfrm>
            <a:off x="4480560" y="2331720"/>
            <a:ext cx="3383280" cy="1463040"/>
          </a:xfrm>
          <a:prstGeom prst="rect">
            <a:avLst/>
          </a:prstGeom>
          <a:noFill/>
        </p:spPr>
        <p:txBody>
          <a:bodyPr wrap="square" lIns="0" rIns="0" tIns="0" bIns="0" anchor="t">
            <a:spAutoFit/>
          </a:bodyPr>
          <a:lstStyle/>
          <a:p>
            <a:pPr algn="l"/>
            <a:r>
              <a:rPr sz="1500" b="0" i="0">
                <a:solidFill>
                  <a:srgbClr val="D6DDE5"/>
                </a:solidFill>
                <a:latin typeface="Calibri"/>
              </a:rPr>
              <a:t>+2.8 pts, +0.043 AUROC (p about 0.02); +6 pts where video is unsure; 0.31 to 1.0 on Baxter</a:t>
            </a:r>
          </a:p>
        </p:txBody>
      </p:sp>
      <p:sp>
        <p:nvSpPr>
          <p:cNvPr id="7" name="text the force is causal"/>
          <p:cNvSpPr txBox="1"/>
          <p:nvPr/>
        </p:nvSpPr>
        <p:spPr>
          <a:xfrm>
            <a:off x="8138160" y="1828800"/>
            <a:ext cx="3383280" cy="457200"/>
          </a:xfrm>
          <a:prstGeom prst="rect">
            <a:avLst/>
          </a:prstGeom>
          <a:noFill/>
        </p:spPr>
        <p:txBody>
          <a:bodyPr wrap="square" lIns="0" rIns="0" tIns="0" bIns="0" anchor="t">
            <a:spAutoFit/>
          </a:bodyPr>
          <a:lstStyle/>
          <a:p>
            <a:pPr algn="l"/>
            <a:r>
              <a:rPr sz="1800" b="1" i="0">
                <a:solidFill>
                  <a:srgbClr val="D9480F"/>
                </a:solidFill>
                <a:latin typeface="Cambria"/>
              </a:rPr>
              <a:t>the force is causal</a:t>
            </a:r>
          </a:p>
        </p:txBody>
      </p:sp>
      <p:sp>
        <p:nvSpPr>
          <p:cNvPr id="8" name="text shuffled: 25 lost / "/>
          <p:cNvSpPr txBox="1"/>
          <p:nvPr/>
        </p:nvSpPr>
        <p:spPr>
          <a:xfrm>
            <a:off x="8138160" y="2331720"/>
            <a:ext cx="3383280" cy="1463040"/>
          </a:xfrm>
          <a:prstGeom prst="rect">
            <a:avLst/>
          </a:prstGeom>
          <a:noFill/>
        </p:spPr>
        <p:txBody>
          <a:bodyPr wrap="square" lIns="0" rIns="0" tIns="0" bIns="0" anchor="t">
            <a:spAutoFit/>
          </a:bodyPr>
          <a:lstStyle/>
          <a:p>
            <a:pPr algn="l"/>
            <a:r>
              <a:rPr sz="1500" b="0" i="0">
                <a:solidFill>
                  <a:srgbClr val="D6DDE5"/>
                </a:solidFill>
                <a:latin typeface="Calibri"/>
              </a:rPr>
              <a:t>shuffled: 25 lost / 9 won (p = 0.009), Baxter 0.25; removed: 0.44</a:t>
            </a:r>
          </a:p>
        </p:txBody>
      </p:sp>
      <p:sp>
        <p:nvSpPr>
          <p:cNvPr id="9" name="text What's next"/>
          <p:cNvSpPr txBox="1"/>
          <p:nvPr/>
        </p:nvSpPr>
        <p:spPr>
          <a:xfrm>
            <a:off x="822960" y="4114800"/>
            <a:ext cx="10515600" cy="457200"/>
          </a:xfrm>
          <a:prstGeom prst="rect">
            <a:avLst/>
          </a:prstGeom>
          <a:noFill/>
        </p:spPr>
        <p:txBody>
          <a:bodyPr wrap="square" lIns="0" rIns="0" tIns="0" bIns="0" anchor="t">
            <a:spAutoFit/>
          </a:bodyPr>
          <a:lstStyle/>
          <a:p>
            <a:pPr algn="l"/>
            <a:r>
              <a:rPr sz="1800" b="1" i="0">
                <a:solidFill>
                  <a:srgbClr val="FFFFFF"/>
                </a:solidFill>
                <a:latin typeface="Cambria"/>
              </a:rPr>
              <a:t>What's next</a:t>
            </a:r>
          </a:p>
        </p:txBody>
      </p:sp>
      <p:sp>
        <p:nvSpPr>
          <p:cNvPr id="10" name="bullets"/>
          <p:cNvSpPr txBox="1"/>
          <p:nvPr/>
        </p:nvSpPr>
        <p:spPr>
          <a:xfrm>
            <a:off x="822960" y="4617720"/>
            <a:ext cx="10515600" cy="1828800"/>
          </a:xfrm>
          <a:prstGeom prst="rect">
            <a:avLst/>
          </a:prstGeom>
          <a:noFill/>
        </p:spPr>
        <p:txBody>
          <a:bodyPr wrap="square" lIns="0" rIns="0" tIns="0" bIns="0">
            <a:spAutoFit/>
          </a:bodyPr>
          <a:lstStyle/>
          <a:p>
            <a:pPr>
              <a:spcAft>
                <a:spcPts val="400"/>
              </a:spcAft>
            </a:pPr>
            <a:r>
              <a:rPr sz="1500">
                <a:solidFill>
                  <a:srgbClr val="2A6FB0"/>
                </a:solidFill>
                <a:latin typeface="Calibri"/>
              </a:rPr>
              <a:t>•  </a:t>
            </a:r>
            <a:r>
              <a:rPr sz="1500">
                <a:solidFill>
                  <a:srgbClr val="D6DDE5"/>
                </a:solidFill>
                <a:latin typeface="Calibri"/>
              </a:rPr>
              <a:t>More held-out clips (about 1,000) to certify the accuracy gain, and a second training seed</a:t>
            </a:r>
          </a:p>
          <a:p>
            <a:pPr>
              <a:spcAft>
                <a:spcPts val="400"/>
              </a:spcAft>
            </a:pPr>
            <a:r>
              <a:rPr sz="1500">
                <a:solidFill>
                  <a:srgbClr val="2A6FB0"/>
                </a:solidFill>
                <a:latin typeface="Calibri"/>
              </a:rPr>
              <a:t>•  </a:t>
            </a:r>
            <a:r>
              <a:rPr sz="1500">
                <a:solidFill>
                  <a:srgbClr val="D6DDE5"/>
                </a:solidFill>
                <a:latin typeface="Calibri"/>
              </a:rPr>
              <a:t>Higher-resolution video input, then re-measure how much force still adds</a:t>
            </a:r>
          </a:p>
          <a:p>
            <a:pPr>
              <a:spcAft>
                <a:spcPts val="400"/>
              </a:spcAft>
            </a:pPr>
            <a:r>
              <a:rPr sz="1500">
                <a:solidFill>
                  <a:srgbClr val="2A6FB0"/>
                </a:solidFill>
                <a:latin typeface="Calibri"/>
              </a:rPr>
              <a:t>•  </a:t>
            </a:r>
            <a:r>
              <a:rPr sz="1500">
                <a:solidFill>
                  <a:srgbClr val="D6DDE5"/>
                </a:solidFill>
                <a:latin typeface="Calibri"/>
              </a:rPr>
              <a:t>Calibrated fingertip sensors on both Baxter grippers and more rollouts, including induced slips</a:t>
            </a:r>
          </a:p>
          <a:p>
            <a:pPr>
              <a:spcAft>
                <a:spcPts val="400"/>
              </a:spcAft>
            </a:pPr>
            <a:r>
              <a:rPr sz="1500">
                <a:solidFill>
                  <a:srgbClr val="2A6FB0"/>
                </a:solidFill>
                <a:latin typeface="Calibri"/>
              </a:rPr>
              <a:t>•  </a:t>
            </a:r>
            <a:r>
              <a:rPr sz="1500">
                <a:solidFill>
                  <a:srgbClr val="D6DDE5"/>
                </a:solidFill>
                <a:latin typeface="Calibri"/>
              </a:rPr>
              <a:t>More embodiments: the same text block works for any force stream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